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imo" panose="020B0604020202020204" charset="0"/>
      <p:regular r:id="rId20"/>
    </p:embeddedFont>
    <p:embeddedFont>
      <p:font typeface="Arimo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svg"/><Relationship Id="rId3" Type="http://schemas.openxmlformats.org/officeDocument/2006/relationships/image" Target="../media/image1.png"/><Relationship Id="rId7" Type="http://schemas.openxmlformats.org/officeDocument/2006/relationships/image" Target="../media/image43.sv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svg"/><Relationship Id="rId5" Type="http://schemas.openxmlformats.org/officeDocument/2006/relationships/image" Target="../media/image41.sv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.pn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svg"/><Relationship Id="rId5" Type="http://schemas.openxmlformats.org/officeDocument/2006/relationships/image" Target="../media/image51.sv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Freeform 6" descr="preencoded.png"/>
          <p:cNvSpPr/>
          <p:nvPr/>
        </p:nvSpPr>
        <p:spPr>
          <a:xfrm>
            <a:off x="5522566" y="1611363"/>
            <a:ext cx="7242867" cy="7242867"/>
          </a:xfrm>
          <a:custGeom>
            <a:avLst/>
            <a:gdLst/>
            <a:ahLst/>
            <a:cxnLst/>
            <a:rect l="l" t="t" r="r" b="b"/>
            <a:pathLst>
              <a:path w="7242867" h="7242867">
                <a:moveTo>
                  <a:pt x="0" y="0"/>
                </a:moveTo>
                <a:lnTo>
                  <a:pt x="7242868" y="0"/>
                </a:lnTo>
                <a:lnTo>
                  <a:pt x="7242868" y="7242867"/>
                </a:lnTo>
                <a:lnTo>
                  <a:pt x="0" y="724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TextBox 6"/>
          <p:cNvSpPr txBox="1"/>
          <p:nvPr/>
        </p:nvSpPr>
        <p:spPr>
          <a:xfrm>
            <a:off x="992238" y="1807959"/>
            <a:ext cx="7890272" cy="1007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0"/>
              </a:lnSpc>
            </a:pPr>
            <a:r>
              <a:rPr lang="en-US" sz="5562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Marca – I‑Brakebicycle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7951" y="3367830"/>
            <a:ext cx="5274021" cy="3983679"/>
            <a:chOff x="0" y="0"/>
            <a:chExt cx="7032028" cy="5311572"/>
          </a:xfrm>
        </p:grpSpPr>
        <p:sp>
          <p:nvSpPr>
            <p:cNvPr id="8" name="Freeform 8"/>
            <p:cNvSpPr/>
            <p:nvPr/>
          </p:nvSpPr>
          <p:spPr>
            <a:xfrm>
              <a:off x="19050" y="19050"/>
              <a:ext cx="6993890" cy="5273421"/>
            </a:xfrm>
            <a:custGeom>
              <a:avLst/>
              <a:gdLst/>
              <a:ahLst/>
              <a:cxnLst/>
              <a:rect l="l" t="t" r="r" b="b"/>
              <a:pathLst>
                <a:path w="6993890" h="527342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5114671"/>
                  </a:lnTo>
                  <a:cubicBezTo>
                    <a:pt x="6993890" y="5202428"/>
                    <a:pt x="6922643" y="5273421"/>
                    <a:pt x="6834886" y="5273421"/>
                  </a:cubicBezTo>
                  <a:lnTo>
                    <a:pt x="159004" y="5273421"/>
                  </a:lnTo>
                  <a:cubicBezTo>
                    <a:pt x="71120" y="5273421"/>
                    <a:pt x="0" y="5202301"/>
                    <a:pt x="0" y="5114671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7031990" cy="5311521"/>
            </a:xfrm>
            <a:custGeom>
              <a:avLst/>
              <a:gdLst/>
              <a:ahLst/>
              <a:cxnLst/>
              <a:rect l="l" t="t" r="r" b="b"/>
              <a:pathLst>
                <a:path w="7031990" h="5311521">
                  <a:moveTo>
                    <a:pt x="0" y="177800"/>
                  </a:moveTo>
                  <a:cubicBezTo>
                    <a:pt x="0" y="79629"/>
                    <a:pt x="79756" y="0"/>
                    <a:pt x="178054" y="0"/>
                  </a:cubicBezTo>
                  <a:lnTo>
                    <a:pt x="6853936" y="0"/>
                  </a:lnTo>
                  <a:lnTo>
                    <a:pt x="6853936" y="19050"/>
                  </a:lnTo>
                  <a:lnTo>
                    <a:pt x="6853936" y="0"/>
                  </a:lnTo>
                  <a:cubicBezTo>
                    <a:pt x="6952234" y="0"/>
                    <a:pt x="7031990" y="79629"/>
                    <a:pt x="7031990" y="177800"/>
                  </a:cubicBezTo>
                  <a:lnTo>
                    <a:pt x="7012940" y="177800"/>
                  </a:lnTo>
                  <a:lnTo>
                    <a:pt x="7031990" y="177800"/>
                  </a:lnTo>
                  <a:lnTo>
                    <a:pt x="7031990" y="5133721"/>
                  </a:lnTo>
                  <a:lnTo>
                    <a:pt x="7012940" y="5133721"/>
                  </a:lnTo>
                  <a:lnTo>
                    <a:pt x="7031990" y="5133721"/>
                  </a:lnTo>
                  <a:cubicBezTo>
                    <a:pt x="7031990" y="5232019"/>
                    <a:pt x="6952234" y="5311521"/>
                    <a:pt x="6853936" y="5311521"/>
                  </a:cubicBezTo>
                  <a:lnTo>
                    <a:pt x="6853936" y="5292471"/>
                  </a:lnTo>
                  <a:lnTo>
                    <a:pt x="6853936" y="5311521"/>
                  </a:lnTo>
                  <a:lnTo>
                    <a:pt x="178054" y="5311521"/>
                  </a:lnTo>
                  <a:lnTo>
                    <a:pt x="178054" y="5292471"/>
                  </a:lnTo>
                  <a:lnTo>
                    <a:pt x="178054" y="5311521"/>
                  </a:lnTo>
                  <a:cubicBezTo>
                    <a:pt x="79756" y="5311521"/>
                    <a:pt x="0" y="5231892"/>
                    <a:pt x="0" y="5133721"/>
                  </a:cubicBezTo>
                  <a:lnTo>
                    <a:pt x="0" y="177800"/>
                  </a:lnTo>
                  <a:lnTo>
                    <a:pt x="19050" y="177800"/>
                  </a:lnTo>
                  <a:lnTo>
                    <a:pt x="0" y="177800"/>
                  </a:lnTo>
                  <a:moveTo>
                    <a:pt x="38100" y="177800"/>
                  </a:moveTo>
                  <a:lnTo>
                    <a:pt x="38100" y="5133721"/>
                  </a:lnTo>
                  <a:lnTo>
                    <a:pt x="19050" y="5133721"/>
                  </a:lnTo>
                  <a:lnTo>
                    <a:pt x="38100" y="5133721"/>
                  </a:lnTo>
                  <a:cubicBezTo>
                    <a:pt x="38100" y="5210810"/>
                    <a:pt x="100711" y="5273421"/>
                    <a:pt x="178054" y="5273421"/>
                  </a:cubicBezTo>
                  <a:lnTo>
                    <a:pt x="6853936" y="5273421"/>
                  </a:lnTo>
                  <a:cubicBezTo>
                    <a:pt x="6931279" y="5273421"/>
                    <a:pt x="6993890" y="5210810"/>
                    <a:pt x="6993890" y="5133721"/>
                  </a:cubicBezTo>
                  <a:lnTo>
                    <a:pt x="6993890" y="177800"/>
                  </a:lnTo>
                  <a:cubicBezTo>
                    <a:pt x="6993890" y="100711"/>
                    <a:pt x="6931279" y="38100"/>
                    <a:pt x="6853936" y="38100"/>
                  </a:cubicBezTo>
                  <a:lnTo>
                    <a:pt x="178054" y="38100"/>
                  </a:lnTo>
                  <a:lnTo>
                    <a:pt x="178054" y="19050"/>
                  </a:lnTo>
                  <a:lnTo>
                    <a:pt x="178054" y="38100"/>
                  </a:lnTo>
                  <a:cubicBezTo>
                    <a:pt x="100711" y="38100"/>
                    <a:pt x="38100" y="100711"/>
                    <a:pt x="38100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04334" y="3694214"/>
            <a:ext cx="850554" cy="850554"/>
            <a:chOff x="0" y="0"/>
            <a:chExt cx="1134072" cy="11340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1538288" y="3928167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8535" b="-8538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3" name="TextBox 13"/>
          <p:cNvSpPr txBox="1"/>
          <p:nvPr/>
        </p:nvSpPr>
        <p:spPr>
          <a:xfrm>
            <a:off x="1304334" y="4771130"/>
            <a:ext cx="3683203" cy="51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Segurança Inovadora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4334" y="5420916"/>
            <a:ext cx="4621263" cy="1512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Marca especializada em soluções tecnológicas avançadas para proteção de ciclistas em ambientes urbanos e desportivos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06918" y="3367830"/>
            <a:ext cx="5274021" cy="3983679"/>
            <a:chOff x="0" y="0"/>
            <a:chExt cx="7032028" cy="5311572"/>
          </a:xfrm>
        </p:grpSpPr>
        <p:sp>
          <p:nvSpPr>
            <p:cNvPr id="16" name="Freeform 16"/>
            <p:cNvSpPr/>
            <p:nvPr/>
          </p:nvSpPr>
          <p:spPr>
            <a:xfrm>
              <a:off x="19050" y="19050"/>
              <a:ext cx="6993890" cy="5273421"/>
            </a:xfrm>
            <a:custGeom>
              <a:avLst/>
              <a:gdLst/>
              <a:ahLst/>
              <a:cxnLst/>
              <a:rect l="l" t="t" r="r" b="b"/>
              <a:pathLst>
                <a:path w="6993890" h="527342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5114671"/>
                  </a:lnTo>
                  <a:cubicBezTo>
                    <a:pt x="6993890" y="5202428"/>
                    <a:pt x="6922643" y="5273421"/>
                    <a:pt x="6834886" y="5273421"/>
                  </a:cubicBezTo>
                  <a:lnTo>
                    <a:pt x="159004" y="5273421"/>
                  </a:lnTo>
                  <a:cubicBezTo>
                    <a:pt x="71120" y="5273421"/>
                    <a:pt x="0" y="5202301"/>
                    <a:pt x="0" y="5114671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7031990" cy="5311521"/>
            </a:xfrm>
            <a:custGeom>
              <a:avLst/>
              <a:gdLst/>
              <a:ahLst/>
              <a:cxnLst/>
              <a:rect l="l" t="t" r="r" b="b"/>
              <a:pathLst>
                <a:path w="7031990" h="5311521">
                  <a:moveTo>
                    <a:pt x="0" y="177800"/>
                  </a:moveTo>
                  <a:cubicBezTo>
                    <a:pt x="0" y="79629"/>
                    <a:pt x="79756" y="0"/>
                    <a:pt x="178054" y="0"/>
                  </a:cubicBezTo>
                  <a:lnTo>
                    <a:pt x="6853936" y="0"/>
                  </a:lnTo>
                  <a:lnTo>
                    <a:pt x="6853936" y="19050"/>
                  </a:lnTo>
                  <a:lnTo>
                    <a:pt x="6853936" y="0"/>
                  </a:lnTo>
                  <a:cubicBezTo>
                    <a:pt x="6952234" y="0"/>
                    <a:pt x="7031990" y="79629"/>
                    <a:pt x="7031990" y="177800"/>
                  </a:cubicBezTo>
                  <a:lnTo>
                    <a:pt x="7012940" y="177800"/>
                  </a:lnTo>
                  <a:lnTo>
                    <a:pt x="7031990" y="177800"/>
                  </a:lnTo>
                  <a:lnTo>
                    <a:pt x="7031990" y="5133721"/>
                  </a:lnTo>
                  <a:lnTo>
                    <a:pt x="7012940" y="5133721"/>
                  </a:lnTo>
                  <a:lnTo>
                    <a:pt x="7031990" y="5133721"/>
                  </a:lnTo>
                  <a:cubicBezTo>
                    <a:pt x="7031990" y="5232019"/>
                    <a:pt x="6952234" y="5311521"/>
                    <a:pt x="6853936" y="5311521"/>
                  </a:cubicBezTo>
                  <a:lnTo>
                    <a:pt x="6853936" y="5292471"/>
                  </a:lnTo>
                  <a:lnTo>
                    <a:pt x="6853936" y="5311521"/>
                  </a:lnTo>
                  <a:lnTo>
                    <a:pt x="178054" y="5311521"/>
                  </a:lnTo>
                  <a:lnTo>
                    <a:pt x="178054" y="5292471"/>
                  </a:lnTo>
                  <a:lnTo>
                    <a:pt x="178054" y="5311521"/>
                  </a:lnTo>
                  <a:cubicBezTo>
                    <a:pt x="79756" y="5311521"/>
                    <a:pt x="0" y="5231892"/>
                    <a:pt x="0" y="5133721"/>
                  </a:cubicBezTo>
                  <a:lnTo>
                    <a:pt x="0" y="177800"/>
                  </a:lnTo>
                  <a:lnTo>
                    <a:pt x="19050" y="177800"/>
                  </a:lnTo>
                  <a:lnTo>
                    <a:pt x="0" y="177800"/>
                  </a:lnTo>
                  <a:moveTo>
                    <a:pt x="38100" y="177800"/>
                  </a:moveTo>
                  <a:lnTo>
                    <a:pt x="38100" y="5133721"/>
                  </a:lnTo>
                  <a:lnTo>
                    <a:pt x="19050" y="5133721"/>
                  </a:lnTo>
                  <a:lnTo>
                    <a:pt x="38100" y="5133721"/>
                  </a:lnTo>
                  <a:cubicBezTo>
                    <a:pt x="38100" y="5210810"/>
                    <a:pt x="100711" y="5273421"/>
                    <a:pt x="178054" y="5273421"/>
                  </a:cubicBezTo>
                  <a:lnTo>
                    <a:pt x="6853936" y="5273421"/>
                  </a:lnTo>
                  <a:cubicBezTo>
                    <a:pt x="6931279" y="5273421"/>
                    <a:pt x="6993890" y="5210810"/>
                    <a:pt x="6993890" y="5133721"/>
                  </a:cubicBezTo>
                  <a:lnTo>
                    <a:pt x="6993890" y="177800"/>
                  </a:lnTo>
                  <a:cubicBezTo>
                    <a:pt x="6993890" y="100711"/>
                    <a:pt x="6931279" y="38100"/>
                    <a:pt x="6853936" y="38100"/>
                  </a:cubicBezTo>
                  <a:lnTo>
                    <a:pt x="178054" y="38100"/>
                  </a:lnTo>
                  <a:lnTo>
                    <a:pt x="178054" y="19050"/>
                  </a:lnTo>
                  <a:lnTo>
                    <a:pt x="178054" y="38100"/>
                  </a:lnTo>
                  <a:cubicBezTo>
                    <a:pt x="100711" y="38100"/>
                    <a:pt x="38100" y="100711"/>
                    <a:pt x="38100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33292" y="3694214"/>
            <a:ext cx="850554" cy="850554"/>
            <a:chOff x="0" y="0"/>
            <a:chExt cx="1134072" cy="11340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0" name="Freeform 20" descr="preencoded.png"/>
          <p:cNvSpPr/>
          <p:nvPr/>
        </p:nvSpPr>
        <p:spPr>
          <a:xfrm>
            <a:off x="7067255" y="3928167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1" name="TextBox 21"/>
          <p:cNvSpPr txBox="1"/>
          <p:nvPr/>
        </p:nvSpPr>
        <p:spPr>
          <a:xfrm>
            <a:off x="6833292" y="4771130"/>
            <a:ext cx="4621263" cy="978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Tecnologia &amp; Confiabilidade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33292" y="5881535"/>
            <a:ext cx="4621263" cy="1143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Foco em sistemas inteligentes que combinam precisão técnica com durabilidade comprovada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035876" y="3367830"/>
            <a:ext cx="5274021" cy="3983679"/>
            <a:chOff x="0" y="0"/>
            <a:chExt cx="7032028" cy="5311572"/>
          </a:xfrm>
        </p:grpSpPr>
        <p:sp>
          <p:nvSpPr>
            <p:cNvPr id="24" name="Freeform 24"/>
            <p:cNvSpPr/>
            <p:nvPr/>
          </p:nvSpPr>
          <p:spPr>
            <a:xfrm>
              <a:off x="19050" y="19050"/>
              <a:ext cx="6993890" cy="5273421"/>
            </a:xfrm>
            <a:custGeom>
              <a:avLst/>
              <a:gdLst/>
              <a:ahLst/>
              <a:cxnLst/>
              <a:rect l="l" t="t" r="r" b="b"/>
              <a:pathLst>
                <a:path w="6993890" h="527342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6834886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5114671"/>
                  </a:lnTo>
                  <a:cubicBezTo>
                    <a:pt x="6993890" y="5202428"/>
                    <a:pt x="6922643" y="5273421"/>
                    <a:pt x="6834886" y="5273421"/>
                  </a:cubicBezTo>
                  <a:lnTo>
                    <a:pt x="159004" y="5273421"/>
                  </a:lnTo>
                  <a:cubicBezTo>
                    <a:pt x="71120" y="5273421"/>
                    <a:pt x="0" y="5202301"/>
                    <a:pt x="0" y="5114671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7031990" cy="5311521"/>
            </a:xfrm>
            <a:custGeom>
              <a:avLst/>
              <a:gdLst/>
              <a:ahLst/>
              <a:cxnLst/>
              <a:rect l="l" t="t" r="r" b="b"/>
              <a:pathLst>
                <a:path w="7031990" h="5311521">
                  <a:moveTo>
                    <a:pt x="0" y="177800"/>
                  </a:moveTo>
                  <a:cubicBezTo>
                    <a:pt x="0" y="79629"/>
                    <a:pt x="79756" y="0"/>
                    <a:pt x="178054" y="0"/>
                  </a:cubicBezTo>
                  <a:lnTo>
                    <a:pt x="6853936" y="0"/>
                  </a:lnTo>
                  <a:lnTo>
                    <a:pt x="6853936" y="19050"/>
                  </a:lnTo>
                  <a:lnTo>
                    <a:pt x="6853936" y="0"/>
                  </a:lnTo>
                  <a:cubicBezTo>
                    <a:pt x="6952234" y="0"/>
                    <a:pt x="7031990" y="79629"/>
                    <a:pt x="7031990" y="177800"/>
                  </a:cubicBezTo>
                  <a:lnTo>
                    <a:pt x="7012940" y="177800"/>
                  </a:lnTo>
                  <a:lnTo>
                    <a:pt x="7031990" y="177800"/>
                  </a:lnTo>
                  <a:lnTo>
                    <a:pt x="7031990" y="5133721"/>
                  </a:lnTo>
                  <a:lnTo>
                    <a:pt x="7012940" y="5133721"/>
                  </a:lnTo>
                  <a:lnTo>
                    <a:pt x="7031990" y="5133721"/>
                  </a:lnTo>
                  <a:cubicBezTo>
                    <a:pt x="7031990" y="5232019"/>
                    <a:pt x="6952234" y="5311521"/>
                    <a:pt x="6853936" y="5311521"/>
                  </a:cubicBezTo>
                  <a:lnTo>
                    <a:pt x="6853936" y="5292471"/>
                  </a:lnTo>
                  <a:lnTo>
                    <a:pt x="6853936" y="5311521"/>
                  </a:lnTo>
                  <a:lnTo>
                    <a:pt x="178054" y="5311521"/>
                  </a:lnTo>
                  <a:lnTo>
                    <a:pt x="178054" y="5292471"/>
                  </a:lnTo>
                  <a:lnTo>
                    <a:pt x="178054" y="5311521"/>
                  </a:lnTo>
                  <a:cubicBezTo>
                    <a:pt x="79756" y="5311521"/>
                    <a:pt x="0" y="5231892"/>
                    <a:pt x="0" y="5133721"/>
                  </a:cubicBezTo>
                  <a:lnTo>
                    <a:pt x="0" y="177800"/>
                  </a:lnTo>
                  <a:lnTo>
                    <a:pt x="19050" y="177800"/>
                  </a:lnTo>
                  <a:lnTo>
                    <a:pt x="0" y="177800"/>
                  </a:lnTo>
                  <a:moveTo>
                    <a:pt x="38100" y="177800"/>
                  </a:moveTo>
                  <a:lnTo>
                    <a:pt x="38100" y="5133721"/>
                  </a:lnTo>
                  <a:lnTo>
                    <a:pt x="19050" y="5133721"/>
                  </a:lnTo>
                  <a:lnTo>
                    <a:pt x="38100" y="5133721"/>
                  </a:lnTo>
                  <a:cubicBezTo>
                    <a:pt x="38100" y="5210810"/>
                    <a:pt x="100711" y="5273421"/>
                    <a:pt x="178054" y="5273421"/>
                  </a:cubicBezTo>
                  <a:lnTo>
                    <a:pt x="6853936" y="5273421"/>
                  </a:lnTo>
                  <a:cubicBezTo>
                    <a:pt x="6931279" y="5273421"/>
                    <a:pt x="6993890" y="5210810"/>
                    <a:pt x="6993890" y="5133721"/>
                  </a:cubicBezTo>
                  <a:lnTo>
                    <a:pt x="6993890" y="177800"/>
                  </a:lnTo>
                  <a:cubicBezTo>
                    <a:pt x="6993890" y="100711"/>
                    <a:pt x="6931279" y="38100"/>
                    <a:pt x="6853936" y="38100"/>
                  </a:cubicBezTo>
                  <a:lnTo>
                    <a:pt x="178054" y="38100"/>
                  </a:lnTo>
                  <a:lnTo>
                    <a:pt x="178054" y="19050"/>
                  </a:lnTo>
                  <a:lnTo>
                    <a:pt x="178054" y="38100"/>
                  </a:lnTo>
                  <a:cubicBezTo>
                    <a:pt x="100711" y="38100"/>
                    <a:pt x="38100" y="100711"/>
                    <a:pt x="38100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362259" y="3694214"/>
            <a:ext cx="850554" cy="850554"/>
            <a:chOff x="0" y="0"/>
            <a:chExt cx="1134072" cy="11340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8" name="Freeform 28" descr="preencoded.png"/>
          <p:cNvSpPr/>
          <p:nvPr/>
        </p:nvSpPr>
        <p:spPr>
          <a:xfrm>
            <a:off x="12596222" y="3928167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24390" b="-24390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9" name="TextBox 29"/>
          <p:cNvSpPr txBox="1"/>
          <p:nvPr/>
        </p:nvSpPr>
        <p:spPr>
          <a:xfrm>
            <a:off x="12362259" y="4771130"/>
            <a:ext cx="3544043" cy="51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Sustentabilidade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62259" y="5420916"/>
            <a:ext cx="4621263" cy="1143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Compromisso com soluções eco-friendly que promovem mobilidade limpa e consciente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2238" y="7618066"/>
            <a:ext cx="16303523" cy="77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Posicionamento:</a:t>
            </a: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Liderança em segurança inteligente para ciclistas urbanos e desportivos que valorizam proteção ativa e tecnologia de ponta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-85725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77951" y="482279"/>
            <a:ext cx="12234862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0"/>
              </a:lnSpc>
            </a:pPr>
            <a:r>
              <a:rPr lang="en-US" sz="5562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Análise SWOT – I‑Brakebicycle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1765849"/>
            <a:ext cx="8115300" cy="3983679"/>
            <a:chOff x="0" y="0"/>
            <a:chExt cx="10820400" cy="5311572"/>
          </a:xfrm>
        </p:grpSpPr>
        <p:sp>
          <p:nvSpPr>
            <p:cNvPr id="7" name="Freeform 7"/>
            <p:cNvSpPr/>
            <p:nvPr/>
          </p:nvSpPr>
          <p:spPr>
            <a:xfrm>
              <a:off x="29313" y="19050"/>
              <a:ext cx="10761716" cy="5273421"/>
            </a:xfrm>
            <a:custGeom>
              <a:avLst/>
              <a:gdLst/>
              <a:ahLst/>
              <a:cxnLst/>
              <a:rect l="l" t="t" r="r" b="b"/>
              <a:pathLst>
                <a:path w="10761716" h="5273421">
                  <a:moveTo>
                    <a:pt x="0" y="158750"/>
                  </a:moveTo>
                  <a:cubicBezTo>
                    <a:pt x="0" y="71120"/>
                    <a:pt x="109630" y="0"/>
                    <a:pt x="244664" y="0"/>
                  </a:cubicBezTo>
                  <a:lnTo>
                    <a:pt x="10517051" y="0"/>
                  </a:lnTo>
                  <a:cubicBezTo>
                    <a:pt x="10652281" y="0"/>
                    <a:pt x="10761716" y="71120"/>
                    <a:pt x="10761716" y="158750"/>
                  </a:cubicBezTo>
                  <a:lnTo>
                    <a:pt x="10761716" y="5114671"/>
                  </a:lnTo>
                  <a:cubicBezTo>
                    <a:pt x="10761716" y="5202428"/>
                    <a:pt x="10652085" y="5273421"/>
                    <a:pt x="10517051" y="5273421"/>
                  </a:cubicBezTo>
                  <a:lnTo>
                    <a:pt x="244664" y="5273421"/>
                  </a:lnTo>
                  <a:cubicBezTo>
                    <a:pt x="109434" y="5273421"/>
                    <a:pt x="0" y="5202301"/>
                    <a:pt x="0" y="5114671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0820342" cy="5311521"/>
            </a:xfrm>
            <a:custGeom>
              <a:avLst/>
              <a:gdLst/>
              <a:ahLst/>
              <a:cxnLst/>
              <a:rect l="l" t="t" r="r" b="b"/>
              <a:pathLst>
                <a:path w="10820342" h="5311521">
                  <a:moveTo>
                    <a:pt x="0" y="177800"/>
                  </a:moveTo>
                  <a:cubicBezTo>
                    <a:pt x="0" y="79629"/>
                    <a:pt x="122723" y="0"/>
                    <a:pt x="273977" y="0"/>
                  </a:cubicBezTo>
                  <a:lnTo>
                    <a:pt x="10546364" y="0"/>
                  </a:lnTo>
                  <a:lnTo>
                    <a:pt x="10546364" y="19050"/>
                  </a:lnTo>
                  <a:lnTo>
                    <a:pt x="10546364" y="0"/>
                  </a:lnTo>
                  <a:cubicBezTo>
                    <a:pt x="10697618" y="0"/>
                    <a:pt x="10820342" y="79629"/>
                    <a:pt x="10820342" y="177800"/>
                  </a:cubicBezTo>
                  <a:lnTo>
                    <a:pt x="10791029" y="177800"/>
                  </a:lnTo>
                  <a:lnTo>
                    <a:pt x="10820342" y="177800"/>
                  </a:lnTo>
                  <a:lnTo>
                    <a:pt x="10820342" y="5133721"/>
                  </a:lnTo>
                  <a:lnTo>
                    <a:pt x="10791029" y="5133721"/>
                  </a:lnTo>
                  <a:lnTo>
                    <a:pt x="10820342" y="5133721"/>
                  </a:lnTo>
                  <a:cubicBezTo>
                    <a:pt x="10820342" y="5232019"/>
                    <a:pt x="10697618" y="5311521"/>
                    <a:pt x="10546364" y="5311521"/>
                  </a:cubicBezTo>
                  <a:lnTo>
                    <a:pt x="10546364" y="5292471"/>
                  </a:lnTo>
                  <a:lnTo>
                    <a:pt x="10546364" y="5311521"/>
                  </a:lnTo>
                  <a:lnTo>
                    <a:pt x="273977" y="5311521"/>
                  </a:lnTo>
                  <a:lnTo>
                    <a:pt x="273977" y="5292471"/>
                  </a:lnTo>
                  <a:lnTo>
                    <a:pt x="273977" y="5311521"/>
                  </a:lnTo>
                  <a:cubicBezTo>
                    <a:pt x="122723" y="5311521"/>
                    <a:pt x="0" y="5231892"/>
                    <a:pt x="0" y="5133721"/>
                  </a:cubicBezTo>
                  <a:lnTo>
                    <a:pt x="0" y="177800"/>
                  </a:lnTo>
                  <a:lnTo>
                    <a:pt x="29313" y="177800"/>
                  </a:lnTo>
                  <a:lnTo>
                    <a:pt x="0" y="177800"/>
                  </a:lnTo>
                  <a:moveTo>
                    <a:pt x="58626" y="177800"/>
                  </a:moveTo>
                  <a:lnTo>
                    <a:pt x="58626" y="5133721"/>
                  </a:lnTo>
                  <a:lnTo>
                    <a:pt x="29313" y="5133721"/>
                  </a:lnTo>
                  <a:lnTo>
                    <a:pt x="58626" y="5133721"/>
                  </a:lnTo>
                  <a:cubicBezTo>
                    <a:pt x="58626" y="5210810"/>
                    <a:pt x="154967" y="5273421"/>
                    <a:pt x="273977" y="5273421"/>
                  </a:cubicBezTo>
                  <a:lnTo>
                    <a:pt x="10546364" y="5273421"/>
                  </a:lnTo>
                  <a:cubicBezTo>
                    <a:pt x="10665375" y="5273421"/>
                    <a:pt x="10761716" y="5210810"/>
                    <a:pt x="10761716" y="5133721"/>
                  </a:cubicBezTo>
                  <a:lnTo>
                    <a:pt x="10761716" y="177800"/>
                  </a:lnTo>
                  <a:cubicBezTo>
                    <a:pt x="10761716" y="100711"/>
                    <a:pt x="10665375" y="38100"/>
                    <a:pt x="10546364" y="38100"/>
                  </a:cubicBezTo>
                  <a:lnTo>
                    <a:pt x="273977" y="38100"/>
                  </a:lnTo>
                  <a:lnTo>
                    <a:pt x="273977" y="19050"/>
                  </a:lnTo>
                  <a:lnTo>
                    <a:pt x="273977" y="38100"/>
                  </a:lnTo>
                  <a:cubicBezTo>
                    <a:pt x="154967" y="38100"/>
                    <a:pt x="58626" y="100711"/>
                    <a:pt x="58626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1538288" y="3928167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8535" b="-8538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0" name="TextBox 10"/>
          <p:cNvSpPr txBox="1"/>
          <p:nvPr/>
        </p:nvSpPr>
        <p:spPr>
          <a:xfrm>
            <a:off x="1824109" y="5968603"/>
            <a:ext cx="3683203" cy="51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Segurança Inovadora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1889" y="2649441"/>
            <a:ext cx="7788921" cy="290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Tecnologia inovadora de travagem automática inteligente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Forte proposta de valor em segurança preventiva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Diferenciação clara face aos travões tradicionais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Aplicável a vários segmentos: urbano, BTT e infantil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Valor emocional forte (proteção, tranquilidade, confiança)</a:t>
            </a:r>
          </a:p>
          <a:p>
            <a:pPr algn="l">
              <a:lnSpc>
                <a:spcPts val="2875"/>
              </a:lnSpc>
            </a:pPr>
            <a:endParaRPr lang="en-US" sz="2187" b="1">
              <a:solidFill>
                <a:srgbClr val="EBEDF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028700" y="6035278"/>
            <a:ext cx="8115300" cy="3983679"/>
            <a:chOff x="0" y="0"/>
            <a:chExt cx="10820400" cy="5311572"/>
          </a:xfrm>
        </p:grpSpPr>
        <p:sp>
          <p:nvSpPr>
            <p:cNvPr id="13" name="Freeform 13"/>
            <p:cNvSpPr/>
            <p:nvPr/>
          </p:nvSpPr>
          <p:spPr>
            <a:xfrm>
              <a:off x="29313" y="19050"/>
              <a:ext cx="10761716" cy="5273421"/>
            </a:xfrm>
            <a:custGeom>
              <a:avLst/>
              <a:gdLst/>
              <a:ahLst/>
              <a:cxnLst/>
              <a:rect l="l" t="t" r="r" b="b"/>
              <a:pathLst>
                <a:path w="10761716" h="5273421">
                  <a:moveTo>
                    <a:pt x="0" y="158750"/>
                  </a:moveTo>
                  <a:cubicBezTo>
                    <a:pt x="0" y="71120"/>
                    <a:pt x="109630" y="0"/>
                    <a:pt x="244664" y="0"/>
                  </a:cubicBezTo>
                  <a:lnTo>
                    <a:pt x="10517051" y="0"/>
                  </a:lnTo>
                  <a:cubicBezTo>
                    <a:pt x="10652281" y="0"/>
                    <a:pt x="10761716" y="71120"/>
                    <a:pt x="10761716" y="158750"/>
                  </a:cubicBezTo>
                  <a:lnTo>
                    <a:pt x="10761716" y="5114671"/>
                  </a:lnTo>
                  <a:cubicBezTo>
                    <a:pt x="10761716" y="5202428"/>
                    <a:pt x="10652085" y="5273421"/>
                    <a:pt x="10517051" y="5273421"/>
                  </a:cubicBezTo>
                  <a:lnTo>
                    <a:pt x="244664" y="5273421"/>
                  </a:lnTo>
                  <a:cubicBezTo>
                    <a:pt x="109434" y="5273421"/>
                    <a:pt x="0" y="5202301"/>
                    <a:pt x="0" y="5114671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10820342" cy="5311521"/>
            </a:xfrm>
            <a:custGeom>
              <a:avLst/>
              <a:gdLst/>
              <a:ahLst/>
              <a:cxnLst/>
              <a:rect l="l" t="t" r="r" b="b"/>
              <a:pathLst>
                <a:path w="10820342" h="5311521">
                  <a:moveTo>
                    <a:pt x="0" y="177800"/>
                  </a:moveTo>
                  <a:cubicBezTo>
                    <a:pt x="0" y="79629"/>
                    <a:pt x="122723" y="0"/>
                    <a:pt x="273977" y="0"/>
                  </a:cubicBezTo>
                  <a:lnTo>
                    <a:pt x="10546364" y="0"/>
                  </a:lnTo>
                  <a:lnTo>
                    <a:pt x="10546364" y="19050"/>
                  </a:lnTo>
                  <a:lnTo>
                    <a:pt x="10546364" y="0"/>
                  </a:lnTo>
                  <a:cubicBezTo>
                    <a:pt x="10697618" y="0"/>
                    <a:pt x="10820342" y="79629"/>
                    <a:pt x="10820342" y="177800"/>
                  </a:cubicBezTo>
                  <a:lnTo>
                    <a:pt x="10791029" y="177800"/>
                  </a:lnTo>
                  <a:lnTo>
                    <a:pt x="10820342" y="177800"/>
                  </a:lnTo>
                  <a:lnTo>
                    <a:pt x="10820342" y="5133721"/>
                  </a:lnTo>
                  <a:lnTo>
                    <a:pt x="10791029" y="5133721"/>
                  </a:lnTo>
                  <a:lnTo>
                    <a:pt x="10820342" y="5133721"/>
                  </a:lnTo>
                  <a:cubicBezTo>
                    <a:pt x="10820342" y="5232019"/>
                    <a:pt x="10697618" y="5311521"/>
                    <a:pt x="10546364" y="5311521"/>
                  </a:cubicBezTo>
                  <a:lnTo>
                    <a:pt x="10546364" y="5292471"/>
                  </a:lnTo>
                  <a:lnTo>
                    <a:pt x="10546364" y="5311521"/>
                  </a:lnTo>
                  <a:lnTo>
                    <a:pt x="273977" y="5311521"/>
                  </a:lnTo>
                  <a:lnTo>
                    <a:pt x="273977" y="5292471"/>
                  </a:lnTo>
                  <a:lnTo>
                    <a:pt x="273977" y="5311521"/>
                  </a:lnTo>
                  <a:cubicBezTo>
                    <a:pt x="122723" y="5311521"/>
                    <a:pt x="0" y="5231892"/>
                    <a:pt x="0" y="5133721"/>
                  </a:cubicBezTo>
                  <a:lnTo>
                    <a:pt x="0" y="177800"/>
                  </a:lnTo>
                  <a:lnTo>
                    <a:pt x="29313" y="177800"/>
                  </a:lnTo>
                  <a:lnTo>
                    <a:pt x="0" y="177800"/>
                  </a:lnTo>
                  <a:moveTo>
                    <a:pt x="58626" y="177800"/>
                  </a:moveTo>
                  <a:lnTo>
                    <a:pt x="58626" y="5133721"/>
                  </a:lnTo>
                  <a:lnTo>
                    <a:pt x="29313" y="5133721"/>
                  </a:lnTo>
                  <a:lnTo>
                    <a:pt x="58626" y="5133721"/>
                  </a:lnTo>
                  <a:cubicBezTo>
                    <a:pt x="58626" y="5210810"/>
                    <a:pt x="154967" y="5273421"/>
                    <a:pt x="273977" y="5273421"/>
                  </a:cubicBezTo>
                  <a:lnTo>
                    <a:pt x="10546364" y="5273421"/>
                  </a:lnTo>
                  <a:cubicBezTo>
                    <a:pt x="10665375" y="5273421"/>
                    <a:pt x="10761716" y="5210810"/>
                    <a:pt x="10761716" y="5133721"/>
                  </a:cubicBezTo>
                  <a:lnTo>
                    <a:pt x="10761716" y="177800"/>
                  </a:lnTo>
                  <a:cubicBezTo>
                    <a:pt x="10761716" y="100711"/>
                    <a:pt x="10665375" y="38100"/>
                    <a:pt x="10546364" y="38100"/>
                  </a:cubicBezTo>
                  <a:lnTo>
                    <a:pt x="273977" y="38100"/>
                  </a:lnTo>
                  <a:lnTo>
                    <a:pt x="273977" y="19050"/>
                  </a:lnTo>
                  <a:lnTo>
                    <a:pt x="273977" y="38100"/>
                  </a:lnTo>
                  <a:cubicBezTo>
                    <a:pt x="154967" y="38100"/>
                    <a:pt x="58626" y="100711"/>
                    <a:pt x="58626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5" name="Freeform 15" descr="preencoded.png"/>
          <p:cNvSpPr/>
          <p:nvPr/>
        </p:nvSpPr>
        <p:spPr>
          <a:xfrm>
            <a:off x="7067255" y="3928167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6" name="TextBox 16"/>
          <p:cNvSpPr txBox="1"/>
          <p:nvPr/>
        </p:nvSpPr>
        <p:spPr>
          <a:xfrm>
            <a:off x="12364493" y="7259831"/>
            <a:ext cx="4621263" cy="978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Tecnologia &amp; Confiabilidade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62259" y="2036274"/>
            <a:ext cx="4621263" cy="1143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Foco em sistemas inteligentes que combinam precisão técnica com durabilidade comprovada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696946" y="1765849"/>
            <a:ext cx="7651728" cy="3983679"/>
            <a:chOff x="0" y="0"/>
            <a:chExt cx="10202304" cy="5311572"/>
          </a:xfrm>
        </p:grpSpPr>
        <p:sp>
          <p:nvSpPr>
            <p:cNvPr id="19" name="Freeform 19"/>
            <p:cNvSpPr/>
            <p:nvPr/>
          </p:nvSpPr>
          <p:spPr>
            <a:xfrm>
              <a:off x="27638" y="19050"/>
              <a:ext cx="10146972" cy="5273421"/>
            </a:xfrm>
            <a:custGeom>
              <a:avLst/>
              <a:gdLst/>
              <a:ahLst/>
              <a:cxnLst/>
              <a:rect l="l" t="t" r="r" b="b"/>
              <a:pathLst>
                <a:path w="10146972" h="5273421">
                  <a:moveTo>
                    <a:pt x="0" y="158750"/>
                  </a:moveTo>
                  <a:cubicBezTo>
                    <a:pt x="0" y="71120"/>
                    <a:pt x="103368" y="0"/>
                    <a:pt x="230689" y="0"/>
                  </a:cubicBezTo>
                  <a:lnTo>
                    <a:pt x="9916284" y="0"/>
                  </a:lnTo>
                  <a:cubicBezTo>
                    <a:pt x="10043789" y="0"/>
                    <a:pt x="10146973" y="71120"/>
                    <a:pt x="10146973" y="158750"/>
                  </a:cubicBezTo>
                  <a:lnTo>
                    <a:pt x="10146973" y="5114671"/>
                  </a:lnTo>
                  <a:cubicBezTo>
                    <a:pt x="10146973" y="5202428"/>
                    <a:pt x="10043605" y="5273421"/>
                    <a:pt x="9916284" y="5273421"/>
                  </a:cubicBezTo>
                  <a:lnTo>
                    <a:pt x="230689" y="5273421"/>
                  </a:lnTo>
                  <a:cubicBezTo>
                    <a:pt x="103184" y="5273421"/>
                    <a:pt x="0" y="5202301"/>
                    <a:pt x="0" y="5114671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10202249" cy="5311521"/>
            </a:xfrm>
            <a:custGeom>
              <a:avLst/>
              <a:gdLst/>
              <a:ahLst/>
              <a:cxnLst/>
              <a:rect l="l" t="t" r="r" b="b"/>
              <a:pathLst>
                <a:path w="10202249" h="5311521">
                  <a:moveTo>
                    <a:pt x="0" y="177800"/>
                  </a:moveTo>
                  <a:cubicBezTo>
                    <a:pt x="0" y="79629"/>
                    <a:pt x="115713" y="0"/>
                    <a:pt x="258327" y="0"/>
                  </a:cubicBezTo>
                  <a:lnTo>
                    <a:pt x="9943922" y="0"/>
                  </a:lnTo>
                  <a:lnTo>
                    <a:pt x="9943922" y="19050"/>
                  </a:lnTo>
                  <a:lnTo>
                    <a:pt x="9943922" y="0"/>
                  </a:lnTo>
                  <a:cubicBezTo>
                    <a:pt x="10086536" y="0"/>
                    <a:pt x="10202249" y="79629"/>
                    <a:pt x="10202249" y="177800"/>
                  </a:cubicBezTo>
                  <a:lnTo>
                    <a:pt x="10174611" y="177800"/>
                  </a:lnTo>
                  <a:lnTo>
                    <a:pt x="10202249" y="177800"/>
                  </a:lnTo>
                  <a:lnTo>
                    <a:pt x="10202249" y="5133721"/>
                  </a:lnTo>
                  <a:lnTo>
                    <a:pt x="10174611" y="5133721"/>
                  </a:lnTo>
                  <a:lnTo>
                    <a:pt x="10202249" y="5133721"/>
                  </a:lnTo>
                  <a:cubicBezTo>
                    <a:pt x="10202249" y="5232019"/>
                    <a:pt x="10086536" y="5311521"/>
                    <a:pt x="9943922" y="5311521"/>
                  </a:cubicBezTo>
                  <a:lnTo>
                    <a:pt x="9943922" y="5292471"/>
                  </a:lnTo>
                  <a:lnTo>
                    <a:pt x="9943922" y="5311521"/>
                  </a:lnTo>
                  <a:lnTo>
                    <a:pt x="258327" y="5311521"/>
                  </a:lnTo>
                  <a:lnTo>
                    <a:pt x="258327" y="5292471"/>
                  </a:lnTo>
                  <a:lnTo>
                    <a:pt x="258327" y="5311521"/>
                  </a:lnTo>
                  <a:cubicBezTo>
                    <a:pt x="115713" y="5311521"/>
                    <a:pt x="0" y="5231892"/>
                    <a:pt x="0" y="5133721"/>
                  </a:cubicBezTo>
                  <a:lnTo>
                    <a:pt x="0" y="177800"/>
                  </a:lnTo>
                  <a:lnTo>
                    <a:pt x="27638" y="177800"/>
                  </a:lnTo>
                  <a:lnTo>
                    <a:pt x="0" y="177800"/>
                  </a:lnTo>
                  <a:moveTo>
                    <a:pt x="55277" y="177800"/>
                  </a:moveTo>
                  <a:lnTo>
                    <a:pt x="55277" y="5133721"/>
                  </a:lnTo>
                  <a:lnTo>
                    <a:pt x="27638" y="5133721"/>
                  </a:lnTo>
                  <a:lnTo>
                    <a:pt x="55277" y="5133721"/>
                  </a:lnTo>
                  <a:cubicBezTo>
                    <a:pt x="55277" y="5210810"/>
                    <a:pt x="146115" y="5273421"/>
                    <a:pt x="258327" y="5273421"/>
                  </a:cubicBezTo>
                  <a:lnTo>
                    <a:pt x="9943922" y="5273421"/>
                  </a:lnTo>
                  <a:cubicBezTo>
                    <a:pt x="10056134" y="5273421"/>
                    <a:pt x="10146973" y="5210810"/>
                    <a:pt x="10146973" y="5133721"/>
                  </a:cubicBezTo>
                  <a:lnTo>
                    <a:pt x="10146973" y="177800"/>
                  </a:lnTo>
                  <a:cubicBezTo>
                    <a:pt x="10146973" y="100711"/>
                    <a:pt x="10056134" y="38100"/>
                    <a:pt x="9943922" y="38100"/>
                  </a:cubicBezTo>
                  <a:lnTo>
                    <a:pt x="258327" y="38100"/>
                  </a:lnTo>
                  <a:lnTo>
                    <a:pt x="258327" y="19050"/>
                  </a:lnTo>
                  <a:lnTo>
                    <a:pt x="258327" y="38100"/>
                  </a:lnTo>
                  <a:cubicBezTo>
                    <a:pt x="146115" y="38100"/>
                    <a:pt x="55277" y="100711"/>
                    <a:pt x="55277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12596222" y="3928167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24390" b="-24390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2" name="TextBox 22"/>
          <p:cNvSpPr txBox="1"/>
          <p:nvPr/>
        </p:nvSpPr>
        <p:spPr>
          <a:xfrm>
            <a:off x="9887046" y="2589019"/>
            <a:ext cx="7325349" cy="326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Produto novo - baixa notoriedade de marca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Necessidade de educar o mercado sobre o funcionamento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Possível custo superior aos travões convencionais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Dependência de tecnologia (sensores,bateria, eletrónica, manutenção)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Possíveis barreiras à adoção por ciclistas mais tradicionais</a:t>
            </a:r>
          </a:p>
          <a:p>
            <a:pPr algn="l">
              <a:lnSpc>
                <a:spcPts val="2875"/>
              </a:lnSpc>
            </a:pPr>
            <a:endParaRPr lang="en-US" sz="2187" b="1">
              <a:solidFill>
                <a:srgbClr val="EBEDF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212813" y="6225061"/>
            <a:ext cx="2952823" cy="290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Posicionamento:</a:t>
            </a: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Liderança em segurança inteligente para ciclistas urbanos e desportivos que valorizam proteção ativa e tecnologia de ponta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715215" y="6035278"/>
            <a:ext cx="7615189" cy="3983679"/>
            <a:chOff x="0" y="0"/>
            <a:chExt cx="10153586" cy="5311572"/>
          </a:xfrm>
        </p:grpSpPr>
        <p:sp>
          <p:nvSpPr>
            <p:cNvPr id="25" name="Freeform 25"/>
            <p:cNvSpPr/>
            <p:nvPr/>
          </p:nvSpPr>
          <p:spPr>
            <a:xfrm>
              <a:off x="27506" y="19050"/>
              <a:ext cx="10098518" cy="5273421"/>
            </a:xfrm>
            <a:custGeom>
              <a:avLst/>
              <a:gdLst/>
              <a:ahLst/>
              <a:cxnLst/>
              <a:rect l="l" t="t" r="r" b="b"/>
              <a:pathLst>
                <a:path w="10098518" h="5273421">
                  <a:moveTo>
                    <a:pt x="0" y="158750"/>
                  </a:moveTo>
                  <a:cubicBezTo>
                    <a:pt x="0" y="71120"/>
                    <a:pt x="102874" y="0"/>
                    <a:pt x="229587" y="0"/>
                  </a:cubicBezTo>
                  <a:lnTo>
                    <a:pt x="9868932" y="0"/>
                  </a:lnTo>
                  <a:cubicBezTo>
                    <a:pt x="9995827" y="0"/>
                    <a:pt x="10098519" y="71120"/>
                    <a:pt x="10098519" y="158750"/>
                  </a:cubicBezTo>
                  <a:lnTo>
                    <a:pt x="10098519" y="5114671"/>
                  </a:lnTo>
                  <a:cubicBezTo>
                    <a:pt x="10098519" y="5202428"/>
                    <a:pt x="9995644" y="5273421"/>
                    <a:pt x="9868932" y="5273421"/>
                  </a:cubicBezTo>
                  <a:lnTo>
                    <a:pt x="229587" y="5273421"/>
                  </a:lnTo>
                  <a:cubicBezTo>
                    <a:pt x="102691" y="5273421"/>
                    <a:pt x="0" y="5202301"/>
                    <a:pt x="0" y="5114671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10153531" cy="5311521"/>
            </a:xfrm>
            <a:custGeom>
              <a:avLst/>
              <a:gdLst/>
              <a:ahLst/>
              <a:cxnLst/>
              <a:rect l="l" t="t" r="r" b="b"/>
              <a:pathLst>
                <a:path w="10153531" h="5311521">
                  <a:moveTo>
                    <a:pt x="0" y="177800"/>
                  </a:moveTo>
                  <a:cubicBezTo>
                    <a:pt x="0" y="79629"/>
                    <a:pt x="115160" y="0"/>
                    <a:pt x="257093" y="0"/>
                  </a:cubicBezTo>
                  <a:lnTo>
                    <a:pt x="9896438" y="0"/>
                  </a:lnTo>
                  <a:lnTo>
                    <a:pt x="9896438" y="19050"/>
                  </a:lnTo>
                  <a:lnTo>
                    <a:pt x="9896438" y="0"/>
                  </a:lnTo>
                  <a:cubicBezTo>
                    <a:pt x="10038370" y="0"/>
                    <a:pt x="10153531" y="79629"/>
                    <a:pt x="10153531" y="177800"/>
                  </a:cubicBezTo>
                  <a:lnTo>
                    <a:pt x="10126025" y="177800"/>
                  </a:lnTo>
                  <a:lnTo>
                    <a:pt x="10153531" y="177800"/>
                  </a:lnTo>
                  <a:lnTo>
                    <a:pt x="10153531" y="5133721"/>
                  </a:lnTo>
                  <a:lnTo>
                    <a:pt x="10126025" y="5133721"/>
                  </a:lnTo>
                  <a:lnTo>
                    <a:pt x="10153531" y="5133721"/>
                  </a:lnTo>
                  <a:cubicBezTo>
                    <a:pt x="10153531" y="5232019"/>
                    <a:pt x="10038370" y="5311521"/>
                    <a:pt x="9896438" y="5311521"/>
                  </a:cubicBezTo>
                  <a:lnTo>
                    <a:pt x="9896438" y="5292471"/>
                  </a:lnTo>
                  <a:lnTo>
                    <a:pt x="9896438" y="5311521"/>
                  </a:lnTo>
                  <a:lnTo>
                    <a:pt x="257093" y="5311521"/>
                  </a:lnTo>
                  <a:lnTo>
                    <a:pt x="257093" y="5292471"/>
                  </a:lnTo>
                  <a:lnTo>
                    <a:pt x="257093" y="5311521"/>
                  </a:lnTo>
                  <a:cubicBezTo>
                    <a:pt x="115160" y="5311521"/>
                    <a:pt x="0" y="5231892"/>
                    <a:pt x="0" y="5133721"/>
                  </a:cubicBezTo>
                  <a:lnTo>
                    <a:pt x="0" y="177800"/>
                  </a:lnTo>
                  <a:lnTo>
                    <a:pt x="27506" y="177800"/>
                  </a:lnTo>
                  <a:lnTo>
                    <a:pt x="0" y="177800"/>
                  </a:lnTo>
                  <a:moveTo>
                    <a:pt x="55013" y="177800"/>
                  </a:moveTo>
                  <a:lnTo>
                    <a:pt x="55013" y="5133721"/>
                  </a:lnTo>
                  <a:lnTo>
                    <a:pt x="27506" y="5133721"/>
                  </a:lnTo>
                  <a:lnTo>
                    <a:pt x="55013" y="5133721"/>
                  </a:lnTo>
                  <a:cubicBezTo>
                    <a:pt x="55013" y="5210810"/>
                    <a:pt x="145417" y="5273421"/>
                    <a:pt x="257093" y="5273421"/>
                  </a:cubicBezTo>
                  <a:lnTo>
                    <a:pt x="9896438" y="5273421"/>
                  </a:lnTo>
                  <a:cubicBezTo>
                    <a:pt x="10008114" y="5273421"/>
                    <a:pt x="10098518" y="5210810"/>
                    <a:pt x="10098518" y="5133721"/>
                  </a:cubicBezTo>
                  <a:lnTo>
                    <a:pt x="10098518" y="177800"/>
                  </a:lnTo>
                  <a:cubicBezTo>
                    <a:pt x="10098518" y="100711"/>
                    <a:pt x="10008114" y="38100"/>
                    <a:pt x="9896438" y="38100"/>
                  </a:cubicBezTo>
                  <a:lnTo>
                    <a:pt x="257093" y="38100"/>
                  </a:lnTo>
                  <a:lnTo>
                    <a:pt x="257093" y="19050"/>
                  </a:lnTo>
                  <a:lnTo>
                    <a:pt x="257093" y="38100"/>
                  </a:lnTo>
                  <a:cubicBezTo>
                    <a:pt x="145417" y="38100"/>
                    <a:pt x="55013" y="100711"/>
                    <a:pt x="55013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91889" y="6832203"/>
            <a:ext cx="7338652" cy="326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Crescimento do uso de bicicletas nas cidades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Aumento da preocupação com segurança rodoviária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Incentivos à mobilidade sustentável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Parcerias com: Lojas de bicicletas, Municípios, Escolas e associações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Potencial em marketing digital e demonstrações em vídeo</a:t>
            </a:r>
          </a:p>
          <a:p>
            <a:pPr algn="l">
              <a:lnSpc>
                <a:spcPts val="2875"/>
              </a:lnSpc>
            </a:pPr>
            <a:endParaRPr lang="en-US" sz="2187" b="1">
              <a:solidFill>
                <a:srgbClr val="EBEDF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887046" y="6656235"/>
            <a:ext cx="7372254" cy="3625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Concorrência de marcas consolidadas de componentes de bicicleta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Rapidez na imitação da tecnologia por grandes fabricantes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Regulamentações ou normas técnicas de segurança</a:t>
            </a:r>
          </a:p>
          <a:p>
            <a:pPr marL="472282" lvl="1" indent="-236141" algn="l">
              <a:lnSpc>
                <a:spcPts val="2874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Resistência a sistemas automáticos (medo de falhas)</a:t>
            </a:r>
          </a:p>
          <a:p>
            <a:pPr marL="472281" lvl="1" indent="-236141" algn="l">
              <a:lnSpc>
                <a:spcPts val="2875"/>
              </a:lnSpc>
              <a:buFont typeface="Arial"/>
              <a:buChar char="•"/>
            </a:pPr>
            <a:r>
              <a:rPr lang="en-US" sz="2187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Dependência da perceção de fiabilidade tecnológica</a:t>
            </a:r>
          </a:p>
          <a:p>
            <a:pPr algn="l">
              <a:lnSpc>
                <a:spcPts val="2874"/>
              </a:lnSpc>
            </a:pPr>
            <a:endParaRPr lang="en-US" sz="2187" b="1">
              <a:solidFill>
                <a:srgbClr val="EBEDF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2406758" y="1960048"/>
            <a:ext cx="2332829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Weaknesses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65549" y="1960048"/>
            <a:ext cx="1841602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Strenghts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887744" y="6121003"/>
            <a:ext cx="2397212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Opportunities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858673" y="6121003"/>
            <a:ext cx="1328273" cy="47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Treaths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7200900" cy="10287000"/>
          </a:xfrm>
          <a:custGeom>
            <a:avLst/>
            <a:gdLst/>
            <a:ahLst/>
            <a:cxnLst/>
            <a:rect l="l" t="t" r="r" b="b"/>
            <a:pathLst>
              <a:path w="7200900" h="102870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TextBox 6"/>
          <p:cNvSpPr txBox="1"/>
          <p:nvPr/>
        </p:nvSpPr>
        <p:spPr>
          <a:xfrm>
            <a:off x="7850238" y="799509"/>
            <a:ext cx="9445523" cy="173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4999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Produto – Travões Automáticos Inteligentes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50238" y="3134173"/>
            <a:ext cx="4914900" cy="1033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00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Sistema Revolucionário de Travagem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50238" y="4403379"/>
            <a:ext cx="4914900" cy="1677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Nossa tecnologia patenteada utiliza sensores avançados que monitoram constantemente o ambiente ao redor da bicicleta, detectando obstáculos, veículos e pedestres em tempo real.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8" y="6291710"/>
            <a:ext cx="4914900" cy="682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2562"/>
              </a:lnSpc>
              <a:buFont typeface="Arial"/>
              <a:buChar char="•"/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Travagem automática progressiva e segura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50238" y="7044480"/>
            <a:ext cx="4914900" cy="682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2562"/>
              </a:lnSpc>
              <a:buFont typeface="Arial"/>
              <a:buChar char="•"/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Sensores de alta precisão com alcance de 15 metros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0238" y="7797251"/>
            <a:ext cx="4914900" cy="350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2562"/>
              </a:lnSpc>
              <a:buFont typeface="Arial"/>
              <a:buChar char="•"/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Instalação plug-and-play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50238" y="8218284"/>
            <a:ext cx="4914900" cy="682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2562"/>
              </a:lnSpc>
              <a:buFont typeface="Arial"/>
              <a:buChar char="•"/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Compatível com todos os modelos de bicicleta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50238" y="8971064"/>
            <a:ext cx="4914900" cy="350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2562"/>
              </a:lnSpc>
              <a:buFont typeface="Arial"/>
              <a:buChar char="•"/>
            </a:pP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Integração GPS e aplicativo mobile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97065" y="3134173"/>
            <a:ext cx="3680517" cy="45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499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Diferencial Competitivo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97065" y="3822802"/>
            <a:ext cx="3908079" cy="1345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 b="1">
                <a:solidFill>
                  <a:srgbClr val="6296FF"/>
                </a:solidFill>
                <a:latin typeface="Arimo Bold"/>
                <a:ea typeface="Arimo Bold"/>
                <a:cs typeface="Arimo Bold"/>
                <a:sym typeface="Arimo Bold"/>
              </a:rPr>
              <a:t>Prevenção ativa de acidentes:</a:t>
            </a:r>
            <a:r>
              <a:rPr lang="en-US" sz="2000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Ao invés de apenas reagir, nosso sistema antecipa situações de risco e age automaticamente.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397065" y="5455739"/>
            <a:ext cx="3908079" cy="1671190"/>
            <a:chOff x="0" y="0"/>
            <a:chExt cx="5210772" cy="22282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10810" cy="2228215"/>
            </a:xfrm>
            <a:custGeom>
              <a:avLst/>
              <a:gdLst/>
              <a:ahLst/>
              <a:cxnLst/>
              <a:rect l="l" t="t" r="r" b="b"/>
              <a:pathLst>
                <a:path w="5210810" h="2228215">
                  <a:moveTo>
                    <a:pt x="0" y="142875"/>
                  </a:moveTo>
                  <a:cubicBezTo>
                    <a:pt x="0" y="64008"/>
                    <a:pt x="64008" y="0"/>
                    <a:pt x="142875" y="0"/>
                  </a:cubicBezTo>
                  <a:lnTo>
                    <a:pt x="5067935" y="0"/>
                  </a:lnTo>
                  <a:cubicBezTo>
                    <a:pt x="5146802" y="0"/>
                    <a:pt x="5210810" y="64008"/>
                    <a:pt x="5210810" y="142875"/>
                  </a:cubicBezTo>
                  <a:lnTo>
                    <a:pt x="5210810" y="2085340"/>
                  </a:lnTo>
                  <a:cubicBezTo>
                    <a:pt x="5210810" y="2164207"/>
                    <a:pt x="5146802" y="2228215"/>
                    <a:pt x="5067935" y="2228215"/>
                  </a:cubicBezTo>
                  <a:lnTo>
                    <a:pt x="142875" y="2228215"/>
                  </a:lnTo>
                  <a:cubicBezTo>
                    <a:pt x="64008" y="2228215"/>
                    <a:pt x="0" y="2164334"/>
                    <a:pt x="0" y="2085340"/>
                  </a:cubicBezTo>
                  <a:close/>
                </a:path>
              </a:pathLst>
            </a:custGeom>
            <a:solidFill>
              <a:srgbClr val="00194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13652154" y="5798934"/>
            <a:ext cx="318935" cy="255089"/>
          </a:xfrm>
          <a:custGeom>
            <a:avLst/>
            <a:gdLst/>
            <a:ahLst/>
            <a:cxnLst/>
            <a:rect l="l" t="t" r="r" b="b"/>
            <a:pathLst>
              <a:path w="318935" h="255089">
                <a:moveTo>
                  <a:pt x="0" y="0"/>
                </a:moveTo>
                <a:lnTo>
                  <a:pt x="318935" y="0"/>
                </a:lnTo>
                <a:lnTo>
                  <a:pt x="318935" y="255089"/>
                </a:lnTo>
                <a:lnTo>
                  <a:pt x="0" y="2550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50" b="-1146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9" name="TextBox 19"/>
          <p:cNvSpPr txBox="1"/>
          <p:nvPr/>
        </p:nvSpPr>
        <p:spPr>
          <a:xfrm>
            <a:off x="14226178" y="5755481"/>
            <a:ext cx="2823867" cy="101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Redução de até </a:t>
            </a:r>
            <a:r>
              <a:rPr lang="en-US" sz="20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73% nos acidentes</a:t>
            </a: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segundo testes independentes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2238" y="828084"/>
            <a:ext cx="6966499" cy="757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124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GPS e Aplicativo Integrado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2053085" y="2611488"/>
            <a:ext cx="4088311" cy="6132309"/>
          </a:xfrm>
          <a:custGeom>
            <a:avLst/>
            <a:gdLst/>
            <a:ahLst/>
            <a:cxnLst/>
            <a:rect l="l" t="t" r="r" b="b"/>
            <a:pathLst>
              <a:path w="4088311" h="6132309">
                <a:moveTo>
                  <a:pt x="0" y="0"/>
                </a:moveTo>
                <a:lnTo>
                  <a:pt x="4088311" y="0"/>
                </a:lnTo>
                <a:lnTo>
                  <a:pt x="4088311" y="6132310"/>
                </a:lnTo>
                <a:lnTo>
                  <a:pt x="0" y="6132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0" b="-40"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7" name="Group 7"/>
          <p:cNvGrpSpPr/>
          <p:nvPr/>
        </p:nvGrpSpPr>
        <p:grpSpPr>
          <a:xfrm>
            <a:off x="7716288" y="2129580"/>
            <a:ext cx="9603134" cy="1621479"/>
            <a:chOff x="0" y="0"/>
            <a:chExt cx="12804178" cy="2161972"/>
          </a:xfrm>
        </p:grpSpPr>
        <p:sp>
          <p:nvSpPr>
            <p:cNvPr id="8" name="Freeform 8"/>
            <p:cNvSpPr/>
            <p:nvPr/>
          </p:nvSpPr>
          <p:spPr>
            <a:xfrm>
              <a:off x="19050" y="19050"/>
              <a:ext cx="12766167" cy="2123821"/>
            </a:xfrm>
            <a:custGeom>
              <a:avLst/>
              <a:gdLst/>
              <a:ahLst/>
              <a:cxnLst/>
              <a:rect l="l" t="t" r="r" b="b"/>
              <a:pathLst>
                <a:path w="12766167" h="2123821">
                  <a:moveTo>
                    <a:pt x="0" y="182880"/>
                  </a:moveTo>
                  <a:cubicBezTo>
                    <a:pt x="0" y="81915"/>
                    <a:pt x="83058" y="0"/>
                    <a:pt x="185674" y="0"/>
                  </a:cubicBezTo>
                  <a:lnTo>
                    <a:pt x="12580493" y="0"/>
                  </a:lnTo>
                  <a:cubicBezTo>
                    <a:pt x="12682982" y="0"/>
                    <a:pt x="12766167" y="81915"/>
                    <a:pt x="12766167" y="182880"/>
                  </a:cubicBezTo>
                  <a:lnTo>
                    <a:pt x="12766167" y="1940941"/>
                  </a:lnTo>
                  <a:cubicBezTo>
                    <a:pt x="12766167" y="2041906"/>
                    <a:pt x="12683110" y="2123821"/>
                    <a:pt x="12580493" y="2123821"/>
                  </a:cubicBezTo>
                  <a:lnTo>
                    <a:pt x="185674" y="2123821"/>
                  </a:lnTo>
                  <a:cubicBezTo>
                    <a:pt x="83185" y="2123821"/>
                    <a:pt x="0" y="2041906"/>
                    <a:pt x="0" y="1940941"/>
                  </a:cubicBez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12804267" cy="2161921"/>
            </a:xfrm>
            <a:custGeom>
              <a:avLst/>
              <a:gdLst/>
              <a:ahLst/>
              <a:cxnLst/>
              <a:rect l="l" t="t" r="r" b="b"/>
              <a:pathLst>
                <a:path w="12804267" h="2161921">
                  <a:moveTo>
                    <a:pt x="0" y="201930"/>
                  </a:moveTo>
                  <a:cubicBezTo>
                    <a:pt x="0" y="90170"/>
                    <a:pt x="91948" y="0"/>
                    <a:pt x="204724" y="0"/>
                  </a:cubicBezTo>
                  <a:lnTo>
                    <a:pt x="12599543" y="0"/>
                  </a:lnTo>
                  <a:lnTo>
                    <a:pt x="12599543" y="19050"/>
                  </a:lnTo>
                  <a:lnTo>
                    <a:pt x="12599543" y="0"/>
                  </a:lnTo>
                  <a:cubicBezTo>
                    <a:pt x="12712319" y="0"/>
                    <a:pt x="12804267" y="90170"/>
                    <a:pt x="12804267" y="201930"/>
                  </a:cubicBezTo>
                  <a:lnTo>
                    <a:pt x="12785217" y="201930"/>
                  </a:lnTo>
                  <a:lnTo>
                    <a:pt x="12804267" y="201930"/>
                  </a:lnTo>
                  <a:lnTo>
                    <a:pt x="12804267" y="1959991"/>
                  </a:lnTo>
                  <a:lnTo>
                    <a:pt x="12785217" y="1959991"/>
                  </a:lnTo>
                  <a:lnTo>
                    <a:pt x="12804267" y="1959991"/>
                  </a:lnTo>
                  <a:cubicBezTo>
                    <a:pt x="12804267" y="2071751"/>
                    <a:pt x="12712319" y="2161921"/>
                    <a:pt x="12599543" y="2161921"/>
                  </a:cubicBezTo>
                  <a:lnTo>
                    <a:pt x="12599543" y="2142871"/>
                  </a:lnTo>
                  <a:lnTo>
                    <a:pt x="12599543" y="2161921"/>
                  </a:lnTo>
                  <a:lnTo>
                    <a:pt x="204724" y="2161921"/>
                  </a:lnTo>
                  <a:lnTo>
                    <a:pt x="204724" y="2142871"/>
                  </a:lnTo>
                  <a:lnTo>
                    <a:pt x="204724" y="2161921"/>
                  </a:lnTo>
                  <a:cubicBezTo>
                    <a:pt x="91948" y="2161921"/>
                    <a:pt x="0" y="2071751"/>
                    <a:pt x="0" y="195999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59991"/>
                  </a:lnTo>
                  <a:lnTo>
                    <a:pt x="19050" y="1959991"/>
                  </a:lnTo>
                  <a:lnTo>
                    <a:pt x="38100" y="1959991"/>
                  </a:lnTo>
                  <a:cubicBezTo>
                    <a:pt x="38100" y="2050161"/>
                    <a:pt x="112395" y="2123821"/>
                    <a:pt x="204724" y="2123821"/>
                  </a:cubicBezTo>
                  <a:lnTo>
                    <a:pt x="12599543" y="2123821"/>
                  </a:lnTo>
                  <a:cubicBezTo>
                    <a:pt x="12691745" y="2123821"/>
                    <a:pt x="12766167" y="2050161"/>
                    <a:pt x="12766167" y="1959991"/>
                  </a:cubicBezTo>
                  <a:lnTo>
                    <a:pt x="12766167" y="201930"/>
                  </a:lnTo>
                  <a:cubicBezTo>
                    <a:pt x="12766167" y="111760"/>
                    <a:pt x="12691873" y="38100"/>
                    <a:pt x="12599543" y="38100"/>
                  </a:cubicBezTo>
                  <a:lnTo>
                    <a:pt x="204724" y="38100"/>
                  </a:lnTo>
                  <a:lnTo>
                    <a:pt x="204724" y="19050"/>
                  </a:lnTo>
                  <a:lnTo>
                    <a:pt x="204724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002A8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0" name="Freeform 10" descr="preencoded.png"/>
          <p:cNvSpPr/>
          <p:nvPr/>
        </p:nvSpPr>
        <p:spPr>
          <a:xfrm>
            <a:off x="7702001" y="2143868"/>
            <a:ext cx="114300" cy="1592904"/>
          </a:xfrm>
          <a:custGeom>
            <a:avLst/>
            <a:gdLst/>
            <a:ahLst/>
            <a:cxnLst/>
            <a:rect l="l" t="t" r="r" b="b"/>
            <a:pathLst>
              <a:path w="114300" h="1592904">
                <a:moveTo>
                  <a:pt x="0" y="0"/>
                </a:moveTo>
                <a:lnTo>
                  <a:pt x="114300" y="0"/>
                </a:lnTo>
                <a:lnTo>
                  <a:pt x="114300" y="1592904"/>
                </a:lnTo>
                <a:lnTo>
                  <a:pt x="0" y="1592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" r="-7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11"/>
          <p:cNvSpPr txBox="1"/>
          <p:nvPr/>
        </p:nvSpPr>
        <p:spPr>
          <a:xfrm>
            <a:off x="8057407" y="2356399"/>
            <a:ext cx="3866112" cy="374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06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Rastreamento em Tempo Real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57407" y="2904830"/>
            <a:ext cx="9006630" cy="590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6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Localização GPS precisa da sua bicicleta 24/7, com histórico completo de rotas e alertas de movimento não autorizado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716288" y="3935016"/>
            <a:ext cx="9603134" cy="1621479"/>
            <a:chOff x="0" y="0"/>
            <a:chExt cx="12804178" cy="2161972"/>
          </a:xfrm>
        </p:grpSpPr>
        <p:sp>
          <p:nvSpPr>
            <p:cNvPr id="14" name="Freeform 14"/>
            <p:cNvSpPr/>
            <p:nvPr/>
          </p:nvSpPr>
          <p:spPr>
            <a:xfrm>
              <a:off x="19050" y="19050"/>
              <a:ext cx="12766167" cy="2123821"/>
            </a:xfrm>
            <a:custGeom>
              <a:avLst/>
              <a:gdLst/>
              <a:ahLst/>
              <a:cxnLst/>
              <a:rect l="l" t="t" r="r" b="b"/>
              <a:pathLst>
                <a:path w="12766167" h="2123821">
                  <a:moveTo>
                    <a:pt x="0" y="182880"/>
                  </a:moveTo>
                  <a:cubicBezTo>
                    <a:pt x="0" y="81915"/>
                    <a:pt x="83058" y="0"/>
                    <a:pt x="185674" y="0"/>
                  </a:cubicBezTo>
                  <a:lnTo>
                    <a:pt x="12580493" y="0"/>
                  </a:lnTo>
                  <a:cubicBezTo>
                    <a:pt x="12682982" y="0"/>
                    <a:pt x="12766167" y="81915"/>
                    <a:pt x="12766167" y="182880"/>
                  </a:cubicBezTo>
                  <a:lnTo>
                    <a:pt x="12766167" y="1940941"/>
                  </a:lnTo>
                  <a:cubicBezTo>
                    <a:pt x="12766167" y="2041906"/>
                    <a:pt x="12683110" y="2123821"/>
                    <a:pt x="12580493" y="2123821"/>
                  </a:cubicBezTo>
                  <a:lnTo>
                    <a:pt x="185674" y="2123821"/>
                  </a:lnTo>
                  <a:cubicBezTo>
                    <a:pt x="83185" y="2123821"/>
                    <a:pt x="0" y="2041906"/>
                    <a:pt x="0" y="1940941"/>
                  </a:cubicBez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12804267" cy="2161921"/>
            </a:xfrm>
            <a:custGeom>
              <a:avLst/>
              <a:gdLst/>
              <a:ahLst/>
              <a:cxnLst/>
              <a:rect l="l" t="t" r="r" b="b"/>
              <a:pathLst>
                <a:path w="12804267" h="2161921">
                  <a:moveTo>
                    <a:pt x="0" y="201930"/>
                  </a:moveTo>
                  <a:cubicBezTo>
                    <a:pt x="0" y="90170"/>
                    <a:pt x="91948" y="0"/>
                    <a:pt x="204724" y="0"/>
                  </a:cubicBezTo>
                  <a:lnTo>
                    <a:pt x="12599543" y="0"/>
                  </a:lnTo>
                  <a:lnTo>
                    <a:pt x="12599543" y="19050"/>
                  </a:lnTo>
                  <a:lnTo>
                    <a:pt x="12599543" y="0"/>
                  </a:lnTo>
                  <a:cubicBezTo>
                    <a:pt x="12712319" y="0"/>
                    <a:pt x="12804267" y="90170"/>
                    <a:pt x="12804267" y="201930"/>
                  </a:cubicBezTo>
                  <a:lnTo>
                    <a:pt x="12785217" y="201930"/>
                  </a:lnTo>
                  <a:lnTo>
                    <a:pt x="12804267" y="201930"/>
                  </a:lnTo>
                  <a:lnTo>
                    <a:pt x="12804267" y="1959991"/>
                  </a:lnTo>
                  <a:lnTo>
                    <a:pt x="12785217" y="1959991"/>
                  </a:lnTo>
                  <a:lnTo>
                    <a:pt x="12804267" y="1959991"/>
                  </a:lnTo>
                  <a:cubicBezTo>
                    <a:pt x="12804267" y="2071751"/>
                    <a:pt x="12712319" y="2161921"/>
                    <a:pt x="12599543" y="2161921"/>
                  </a:cubicBezTo>
                  <a:lnTo>
                    <a:pt x="12599543" y="2142871"/>
                  </a:lnTo>
                  <a:lnTo>
                    <a:pt x="12599543" y="2161921"/>
                  </a:lnTo>
                  <a:lnTo>
                    <a:pt x="204724" y="2161921"/>
                  </a:lnTo>
                  <a:lnTo>
                    <a:pt x="204724" y="2142871"/>
                  </a:lnTo>
                  <a:lnTo>
                    <a:pt x="204724" y="2161921"/>
                  </a:lnTo>
                  <a:cubicBezTo>
                    <a:pt x="91948" y="2161921"/>
                    <a:pt x="0" y="2071751"/>
                    <a:pt x="0" y="195999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59991"/>
                  </a:lnTo>
                  <a:lnTo>
                    <a:pt x="19050" y="1959991"/>
                  </a:lnTo>
                  <a:lnTo>
                    <a:pt x="38100" y="1959991"/>
                  </a:lnTo>
                  <a:cubicBezTo>
                    <a:pt x="38100" y="2050161"/>
                    <a:pt x="112395" y="2123821"/>
                    <a:pt x="204724" y="2123821"/>
                  </a:cubicBezTo>
                  <a:lnTo>
                    <a:pt x="12599543" y="2123821"/>
                  </a:lnTo>
                  <a:cubicBezTo>
                    <a:pt x="12691745" y="2123821"/>
                    <a:pt x="12766167" y="2050161"/>
                    <a:pt x="12766167" y="1959991"/>
                  </a:cubicBezTo>
                  <a:lnTo>
                    <a:pt x="12766167" y="201930"/>
                  </a:lnTo>
                  <a:cubicBezTo>
                    <a:pt x="12766167" y="111760"/>
                    <a:pt x="12691873" y="38100"/>
                    <a:pt x="12599543" y="38100"/>
                  </a:cubicBezTo>
                  <a:lnTo>
                    <a:pt x="204724" y="38100"/>
                  </a:lnTo>
                  <a:lnTo>
                    <a:pt x="204724" y="19050"/>
                  </a:lnTo>
                  <a:lnTo>
                    <a:pt x="204724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002A8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7702001" y="3949303"/>
            <a:ext cx="114300" cy="1592904"/>
          </a:xfrm>
          <a:custGeom>
            <a:avLst/>
            <a:gdLst/>
            <a:ahLst/>
            <a:cxnLst/>
            <a:rect l="l" t="t" r="r" b="b"/>
            <a:pathLst>
              <a:path w="114300" h="1592904">
                <a:moveTo>
                  <a:pt x="0" y="0"/>
                </a:moveTo>
                <a:lnTo>
                  <a:pt x="114300" y="0"/>
                </a:lnTo>
                <a:lnTo>
                  <a:pt x="114300" y="1592904"/>
                </a:lnTo>
                <a:lnTo>
                  <a:pt x="0" y="1592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" r="-7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7" name="TextBox 17"/>
          <p:cNvSpPr txBox="1"/>
          <p:nvPr/>
        </p:nvSpPr>
        <p:spPr>
          <a:xfrm>
            <a:off x="8057407" y="4161834"/>
            <a:ext cx="2984002" cy="374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06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Estatísticas de Viagem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57407" y="4710265"/>
            <a:ext cx="9006630" cy="590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6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Monitore distância percorrida, velocidade média, calorias queimadas e padrões de travagem automática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716288" y="5740451"/>
            <a:ext cx="9603134" cy="1621479"/>
            <a:chOff x="0" y="0"/>
            <a:chExt cx="12804178" cy="2161972"/>
          </a:xfrm>
        </p:grpSpPr>
        <p:sp>
          <p:nvSpPr>
            <p:cNvPr id="20" name="Freeform 20"/>
            <p:cNvSpPr/>
            <p:nvPr/>
          </p:nvSpPr>
          <p:spPr>
            <a:xfrm>
              <a:off x="19050" y="19050"/>
              <a:ext cx="12766167" cy="2123821"/>
            </a:xfrm>
            <a:custGeom>
              <a:avLst/>
              <a:gdLst/>
              <a:ahLst/>
              <a:cxnLst/>
              <a:rect l="l" t="t" r="r" b="b"/>
              <a:pathLst>
                <a:path w="12766167" h="2123821">
                  <a:moveTo>
                    <a:pt x="0" y="182880"/>
                  </a:moveTo>
                  <a:cubicBezTo>
                    <a:pt x="0" y="81915"/>
                    <a:pt x="83058" y="0"/>
                    <a:pt x="185674" y="0"/>
                  </a:cubicBezTo>
                  <a:lnTo>
                    <a:pt x="12580493" y="0"/>
                  </a:lnTo>
                  <a:cubicBezTo>
                    <a:pt x="12682982" y="0"/>
                    <a:pt x="12766167" y="81915"/>
                    <a:pt x="12766167" y="182880"/>
                  </a:cubicBezTo>
                  <a:lnTo>
                    <a:pt x="12766167" y="1940941"/>
                  </a:lnTo>
                  <a:cubicBezTo>
                    <a:pt x="12766167" y="2041906"/>
                    <a:pt x="12683110" y="2123821"/>
                    <a:pt x="12580493" y="2123821"/>
                  </a:cubicBezTo>
                  <a:lnTo>
                    <a:pt x="185674" y="2123821"/>
                  </a:lnTo>
                  <a:cubicBezTo>
                    <a:pt x="83185" y="2123821"/>
                    <a:pt x="0" y="2041906"/>
                    <a:pt x="0" y="1940941"/>
                  </a:cubicBez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2804267" cy="2161921"/>
            </a:xfrm>
            <a:custGeom>
              <a:avLst/>
              <a:gdLst/>
              <a:ahLst/>
              <a:cxnLst/>
              <a:rect l="l" t="t" r="r" b="b"/>
              <a:pathLst>
                <a:path w="12804267" h="2161921">
                  <a:moveTo>
                    <a:pt x="0" y="201930"/>
                  </a:moveTo>
                  <a:cubicBezTo>
                    <a:pt x="0" y="90170"/>
                    <a:pt x="91948" y="0"/>
                    <a:pt x="204724" y="0"/>
                  </a:cubicBezTo>
                  <a:lnTo>
                    <a:pt x="12599543" y="0"/>
                  </a:lnTo>
                  <a:lnTo>
                    <a:pt x="12599543" y="19050"/>
                  </a:lnTo>
                  <a:lnTo>
                    <a:pt x="12599543" y="0"/>
                  </a:lnTo>
                  <a:cubicBezTo>
                    <a:pt x="12712319" y="0"/>
                    <a:pt x="12804267" y="90170"/>
                    <a:pt x="12804267" y="201930"/>
                  </a:cubicBezTo>
                  <a:lnTo>
                    <a:pt x="12785217" y="201930"/>
                  </a:lnTo>
                  <a:lnTo>
                    <a:pt x="12804267" y="201930"/>
                  </a:lnTo>
                  <a:lnTo>
                    <a:pt x="12804267" y="1959991"/>
                  </a:lnTo>
                  <a:lnTo>
                    <a:pt x="12785217" y="1959991"/>
                  </a:lnTo>
                  <a:lnTo>
                    <a:pt x="12804267" y="1959991"/>
                  </a:lnTo>
                  <a:cubicBezTo>
                    <a:pt x="12804267" y="2071751"/>
                    <a:pt x="12712319" y="2161921"/>
                    <a:pt x="12599543" y="2161921"/>
                  </a:cubicBezTo>
                  <a:lnTo>
                    <a:pt x="12599543" y="2142871"/>
                  </a:lnTo>
                  <a:lnTo>
                    <a:pt x="12599543" y="2161921"/>
                  </a:lnTo>
                  <a:lnTo>
                    <a:pt x="204724" y="2161921"/>
                  </a:lnTo>
                  <a:lnTo>
                    <a:pt x="204724" y="2142871"/>
                  </a:lnTo>
                  <a:lnTo>
                    <a:pt x="204724" y="2161921"/>
                  </a:lnTo>
                  <a:cubicBezTo>
                    <a:pt x="91948" y="2161921"/>
                    <a:pt x="0" y="2071751"/>
                    <a:pt x="0" y="195999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59991"/>
                  </a:lnTo>
                  <a:lnTo>
                    <a:pt x="19050" y="1959991"/>
                  </a:lnTo>
                  <a:lnTo>
                    <a:pt x="38100" y="1959991"/>
                  </a:lnTo>
                  <a:cubicBezTo>
                    <a:pt x="38100" y="2050161"/>
                    <a:pt x="112395" y="2123821"/>
                    <a:pt x="204724" y="2123821"/>
                  </a:cubicBezTo>
                  <a:lnTo>
                    <a:pt x="12599543" y="2123821"/>
                  </a:lnTo>
                  <a:cubicBezTo>
                    <a:pt x="12691745" y="2123821"/>
                    <a:pt x="12766167" y="2050161"/>
                    <a:pt x="12766167" y="1959991"/>
                  </a:cubicBezTo>
                  <a:lnTo>
                    <a:pt x="12766167" y="201930"/>
                  </a:lnTo>
                  <a:cubicBezTo>
                    <a:pt x="12766167" y="111760"/>
                    <a:pt x="12691873" y="38100"/>
                    <a:pt x="12599543" y="38100"/>
                  </a:cubicBezTo>
                  <a:lnTo>
                    <a:pt x="204724" y="38100"/>
                  </a:lnTo>
                  <a:lnTo>
                    <a:pt x="204724" y="19050"/>
                  </a:lnTo>
                  <a:lnTo>
                    <a:pt x="204724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002A8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2" name="Freeform 22" descr="preencoded.png"/>
          <p:cNvSpPr/>
          <p:nvPr/>
        </p:nvSpPr>
        <p:spPr>
          <a:xfrm>
            <a:off x="7702001" y="5754738"/>
            <a:ext cx="114300" cy="1592904"/>
          </a:xfrm>
          <a:custGeom>
            <a:avLst/>
            <a:gdLst/>
            <a:ahLst/>
            <a:cxnLst/>
            <a:rect l="l" t="t" r="r" b="b"/>
            <a:pathLst>
              <a:path w="114300" h="1592904">
                <a:moveTo>
                  <a:pt x="0" y="0"/>
                </a:moveTo>
                <a:lnTo>
                  <a:pt x="114300" y="0"/>
                </a:lnTo>
                <a:lnTo>
                  <a:pt x="114300" y="1592904"/>
                </a:lnTo>
                <a:lnTo>
                  <a:pt x="0" y="1592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" r="-7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3" name="TextBox 23"/>
          <p:cNvSpPr txBox="1"/>
          <p:nvPr/>
        </p:nvSpPr>
        <p:spPr>
          <a:xfrm>
            <a:off x="8057407" y="5967260"/>
            <a:ext cx="3967162" cy="374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06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Configurações Personalizadas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57407" y="6515691"/>
            <a:ext cx="9006630" cy="590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6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Ajuste sensibilidade dos sensores, zonas de segurança e notificações conforme seu estilo de pilotagem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716288" y="7545886"/>
            <a:ext cx="9603134" cy="1621479"/>
            <a:chOff x="0" y="0"/>
            <a:chExt cx="12804178" cy="2161972"/>
          </a:xfrm>
        </p:grpSpPr>
        <p:sp>
          <p:nvSpPr>
            <p:cNvPr id="26" name="Freeform 26"/>
            <p:cNvSpPr/>
            <p:nvPr/>
          </p:nvSpPr>
          <p:spPr>
            <a:xfrm>
              <a:off x="19050" y="19050"/>
              <a:ext cx="12766167" cy="2123821"/>
            </a:xfrm>
            <a:custGeom>
              <a:avLst/>
              <a:gdLst/>
              <a:ahLst/>
              <a:cxnLst/>
              <a:rect l="l" t="t" r="r" b="b"/>
              <a:pathLst>
                <a:path w="12766167" h="2123821">
                  <a:moveTo>
                    <a:pt x="0" y="182880"/>
                  </a:moveTo>
                  <a:cubicBezTo>
                    <a:pt x="0" y="81915"/>
                    <a:pt x="83058" y="0"/>
                    <a:pt x="185674" y="0"/>
                  </a:cubicBezTo>
                  <a:lnTo>
                    <a:pt x="12580493" y="0"/>
                  </a:lnTo>
                  <a:cubicBezTo>
                    <a:pt x="12682982" y="0"/>
                    <a:pt x="12766167" y="81915"/>
                    <a:pt x="12766167" y="182880"/>
                  </a:cubicBezTo>
                  <a:lnTo>
                    <a:pt x="12766167" y="1940941"/>
                  </a:lnTo>
                  <a:cubicBezTo>
                    <a:pt x="12766167" y="2041906"/>
                    <a:pt x="12683110" y="2123821"/>
                    <a:pt x="12580493" y="2123821"/>
                  </a:cubicBezTo>
                  <a:lnTo>
                    <a:pt x="185674" y="2123821"/>
                  </a:lnTo>
                  <a:cubicBezTo>
                    <a:pt x="83185" y="2123821"/>
                    <a:pt x="0" y="2041906"/>
                    <a:pt x="0" y="1940941"/>
                  </a:cubicBez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0"/>
              <a:ext cx="12804267" cy="2161921"/>
            </a:xfrm>
            <a:custGeom>
              <a:avLst/>
              <a:gdLst/>
              <a:ahLst/>
              <a:cxnLst/>
              <a:rect l="l" t="t" r="r" b="b"/>
              <a:pathLst>
                <a:path w="12804267" h="2161921">
                  <a:moveTo>
                    <a:pt x="0" y="201930"/>
                  </a:moveTo>
                  <a:cubicBezTo>
                    <a:pt x="0" y="90170"/>
                    <a:pt x="91948" y="0"/>
                    <a:pt x="204724" y="0"/>
                  </a:cubicBezTo>
                  <a:lnTo>
                    <a:pt x="12599543" y="0"/>
                  </a:lnTo>
                  <a:lnTo>
                    <a:pt x="12599543" y="19050"/>
                  </a:lnTo>
                  <a:lnTo>
                    <a:pt x="12599543" y="0"/>
                  </a:lnTo>
                  <a:cubicBezTo>
                    <a:pt x="12712319" y="0"/>
                    <a:pt x="12804267" y="90170"/>
                    <a:pt x="12804267" y="201930"/>
                  </a:cubicBezTo>
                  <a:lnTo>
                    <a:pt x="12785217" y="201930"/>
                  </a:lnTo>
                  <a:lnTo>
                    <a:pt x="12804267" y="201930"/>
                  </a:lnTo>
                  <a:lnTo>
                    <a:pt x="12804267" y="1959991"/>
                  </a:lnTo>
                  <a:lnTo>
                    <a:pt x="12785217" y="1959991"/>
                  </a:lnTo>
                  <a:lnTo>
                    <a:pt x="12804267" y="1959991"/>
                  </a:lnTo>
                  <a:cubicBezTo>
                    <a:pt x="12804267" y="2071751"/>
                    <a:pt x="12712319" y="2161921"/>
                    <a:pt x="12599543" y="2161921"/>
                  </a:cubicBezTo>
                  <a:lnTo>
                    <a:pt x="12599543" y="2142871"/>
                  </a:lnTo>
                  <a:lnTo>
                    <a:pt x="12599543" y="2161921"/>
                  </a:lnTo>
                  <a:lnTo>
                    <a:pt x="204724" y="2161921"/>
                  </a:lnTo>
                  <a:lnTo>
                    <a:pt x="204724" y="2142871"/>
                  </a:lnTo>
                  <a:lnTo>
                    <a:pt x="204724" y="2161921"/>
                  </a:lnTo>
                  <a:cubicBezTo>
                    <a:pt x="91948" y="2161921"/>
                    <a:pt x="0" y="2071751"/>
                    <a:pt x="0" y="1959991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59991"/>
                  </a:lnTo>
                  <a:lnTo>
                    <a:pt x="19050" y="1959991"/>
                  </a:lnTo>
                  <a:lnTo>
                    <a:pt x="38100" y="1959991"/>
                  </a:lnTo>
                  <a:cubicBezTo>
                    <a:pt x="38100" y="2050161"/>
                    <a:pt x="112395" y="2123821"/>
                    <a:pt x="204724" y="2123821"/>
                  </a:cubicBezTo>
                  <a:lnTo>
                    <a:pt x="12599543" y="2123821"/>
                  </a:lnTo>
                  <a:cubicBezTo>
                    <a:pt x="12691745" y="2123821"/>
                    <a:pt x="12766167" y="2050161"/>
                    <a:pt x="12766167" y="1959991"/>
                  </a:cubicBezTo>
                  <a:lnTo>
                    <a:pt x="12766167" y="201930"/>
                  </a:lnTo>
                  <a:cubicBezTo>
                    <a:pt x="12766167" y="111760"/>
                    <a:pt x="12691873" y="38100"/>
                    <a:pt x="12599543" y="38100"/>
                  </a:cubicBezTo>
                  <a:lnTo>
                    <a:pt x="204724" y="38100"/>
                  </a:lnTo>
                  <a:lnTo>
                    <a:pt x="204724" y="19050"/>
                  </a:lnTo>
                  <a:lnTo>
                    <a:pt x="204724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002A8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8" name="Freeform 28" descr="preencoded.png"/>
          <p:cNvSpPr/>
          <p:nvPr/>
        </p:nvSpPr>
        <p:spPr>
          <a:xfrm>
            <a:off x="7702001" y="7560173"/>
            <a:ext cx="114300" cy="1592904"/>
          </a:xfrm>
          <a:custGeom>
            <a:avLst/>
            <a:gdLst/>
            <a:ahLst/>
            <a:cxnLst/>
            <a:rect l="l" t="t" r="r" b="b"/>
            <a:pathLst>
              <a:path w="114300" h="1592904">
                <a:moveTo>
                  <a:pt x="0" y="0"/>
                </a:moveTo>
                <a:lnTo>
                  <a:pt x="114300" y="0"/>
                </a:lnTo>
                <a:lnTo>
                  <a:pt x="114300" y="1592904"/>
                </a:lnTo>
                <a:lnTo>
                  <a:pt x="0" y="1592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" r="-7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9" name="TextBox 29"/>
          <p:cNvSpPr txBox="1"/>
          <p:nvPr/>
        </p:nvSpPr>
        <p:spPr>
          <a:xfrm>
            <a:off x="8057407" y="7772695"/>
            <a:ext cx="3108722" cy="374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06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Comunidade Conectada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57407" y="8321126"/>
            <a:ext cx="9006630" cy="590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6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Compartilhe rotas seguras, receba alertas de perigo e conecte-se com outros ciclistas na sua região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Freeform 6" descr="preencoded.png"/>
          <p:cNvSpPr/>
          <p:nvPr/>
        </p:nvSpPr>
        <p:spPr>
          <a:xfrm>
            <a:off x="11087100" y="0"/>
            <a:ext cx="7200900" cy="10287000"/>
          </a:xfrm>
          <a:custGeom>
            <a:avLst/>
            <a:gdLst/>
            <a:ahLst/>
            <a:cxnLst/>
            <a:rect l="l" t="t" r="r" b="b"/>
            <a:pathLst>
              <a:path w="7200900" h="102870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TextBox 7"/>
          <p:cNvSpPr txBox="1"/>
          <p:nvPr/>
        </p:nvSpPr>
        <p:spPr>
          <a:xfrm>
            <a:off x="992238" y="3583781"/>
            <a:ext cx="9445523" cy="1531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437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Tecnologia que se adapta ao seu Estilo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502326"/>
            <a:ext cx="9445523" cy="1143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Sistema inteligente que aprende com seus hábitos de pilotagem, oferecendo proteção personalizada sem interferir na sua experiência de pedalar.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2238" y="816321"/>
            <a:ext cx="9129560" cy="757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124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Instalação Universal e Simplificada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2238" y="1961112"/>
            <a:ext cx="16303523" cy="31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6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Projetado para máxima compatibilidade, o I-Brakebicycle se adapta à maioria das bicicletas do mercado sem necessidade de modificações estruturais.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5071767" y="2696470"/>
            <a:ext cx="3189684" cy="3189684"/>
          </a:xfrm>
          <a:custGeom>
            <a:avLst/>
            <a:gdLst/>
            <a:ahLst/>
            <a:cxnLst/>
            <a:rect l="l" t="t" r="r" b="b"/>
            <a:pathLst>
              <a:path w="3189684" h="3189684">
                <a:moveTo>
                  <a:pt x="0" y="0"/>
                </a:moveTo>
                <a:lnTo>
                  <a:pt x="3189685" y="0"/>
                </a:lnTo>
                <a:lnTo>
                  <a:pt x="3189685" y="3189685"/>
                </a:lnTo>
                <a:lnTo>
                  <a:pt x="0" y="3189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Freeform 8" descr="preencoded.png"/>
          <p:cNvSpPr/>
          <p:nvPr/>
        </p:nvSpPr>
        <p:spPr>
          <a:xfrm>
            <a:off x="8431559" y="2696470"/>
            <a:ext cx="4784522" cy="3189684"/>
          </a:xfrm>
          <a:custGeom>
            <a:avLst/>
            <a:gdLst/>
            <a:ahLst/>
            <a:cxnLst/>
            <a:rect l="l" t="t" r="r" b="b"/>
            <a:pathLst>
              <a:path w="4784522" h="3189684">
                <a:moveTo>
                  <a:pt x="0" y="0"/>
                </a:moveTo>
                <a:lnTo>
                  <a:pt x="4784521" y="0"/>
                </a:lnTo>
                <a:lnTo>
                  <a:pt x="4784521" y="3189685"/>
                </a:lnTo>
                <a:lnTo>
                  <a:pt x="0" y="31896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9" b="-49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9" name="TextBox 9"/>
          <p:cNvSpPr txBox="1"/>
          <p:nvPr/>
        </p:nvSpPr>
        <p:spPr>
          <a:xfrm>
            <a:off x="992238" y="6184106"/>
            <a:ext cx="212522" cy="31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6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92238" y="6565554"/>
            <a:ext cx="8045501" cy="28575"/>
          </a:xfrm>
          <a:custGeom>
            <a:avLst/>
            <a:gdLst/>
            <a:ahLst/>
            <a:cxnLst/>
            <a:rect l="l" t="t" r="r" b="b"/>
            <a:pathLst>
              <a:path w="8045501" h="28575">
                <a:moveTo>
                  <a:pt x="0" y="0"/>
                </a:moveTo>
                <a:lnTo>
                  <a:pt x="8045501" y="0"/>
                </a:lnTo>
                <a:lnTo>
                  <a:pt x="8045501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" r="-19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11"/>
          <p:cNvSpPr txBox="1"/>
          <p:nvPr/>
        </p:nvSpPr>
        <p:spPr>
          <a:xfrm>
            <a:off x="992238" y="6690865"/>
            <a:ext cx="4148138" cy="45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49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Fixação do Módulo Central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7232894"/>
            <a:ext cx="8045501" cy="31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6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Instalação rápida no guidão com braçadeiras ajustáveis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50261" y="6184106"/>
            <a:ext cx="212522" cy="31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6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9250261" y="6565554"/>
            <a:ext cx="8045501" cy="28575"/>
          </a:xfrm>
          <a:custGeom>
            <a:avLst/>
            <a:gdLst/>
            <a:ahLst/>
            <a:cxnLst/>
            <a:rect l="l" t="t" r="r" b="b"/>
            <a:pathLst>
              <a:path w="8045501" h="28575">
                <a:moveTo>
                  <a:pt x="0" y="0"/>
                </a:moveTo>
                <a:lnTo>
                  <a:pt x="8045501" y="0"/>
                </a:lnTo>
                <a:lnTo>
                  <a:pt x="8045501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" r="-19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5" name="TextBox 15"/>
          <p:cNvSpPr txBox="1"/>
          <p:nvPr/>
        </p:nvSpPr>
        <p:spPr>
          <a:xfrm>
            <a:off x="9250261" y="6690865"/>
            <a:ext cx="3299222" cy="45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49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Conexão aos Travões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50261" y="7232894"/>
            <a:ext cx="8045501" cy="31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6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Travões compatíveis com sistemas V-brake e disco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38" y="7881195"/>
            <a:ext cx="212522" cy="31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6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992238" y="8241506"/>
            <a:ext cx="8045501" cy="28575"/>
          </a:xfrm>
          <a:custGeom>
            <a:avLst/>
            <a:gdLst/>
            <a:ahLst/>
            <a:cxnLst/>
            <a:rect l="l" t="t" r="r" b="b"/>
            <a:pathLst>
              <a:path w="8045501" h="28575">
                <a:moveTo>
                  <a:pt x="0" y="0"/>
                </a:moveTo>
                <a:lnTo>
                  <a:pt x="8045501" y="0"/>
                </a:lnTo>
                <a:lnTo>
                  <a:pt x="8045501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" r="-19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9" name="TextBox 19"/>
          <p:cNvSpPr txBox="1"/>
          <p:nvPr/>
        </p:nvSpPr>
        <p:spPr>
          <a:xfrm>
            <a:off x="992238" y="8387953"/>
            <a:ext cx="3566665" cy="45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49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Calibração Automática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2238" y="8929983"/>
            <a:ext cx="8045501" cy="31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6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Sistema reconhece o modelo e ajusta parâmetros via app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50261" y="7881195"/>
            <a:ext cx="212522" cy="31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6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sp>
        <p:nvSpPr>
          <p:cNvPr id="22" name="Freeform 22" descr="preencoded.png"/>
          <p:cNvSpPr/>
          <p:nvPr/>
        </p:nvSpPr>
        <p:spPr>
          <a:xfrm>
            <a:off x="9250261" y="8241506"/>
            <a:ext cx="8045501" cy="28575"/>
          </a:xfrm>
          <a:custGeom>
            <a:avLst/>
            <a:gdLst/>
            <a:ahLst/>
            <a:cxnLst/>
            <a:rect l="l" t="t" r="r" b="b"/>
            <a:pathLst>
              <a:path w="8045501" h="28575">
                <a:moveTo>
                  <a:pt x="0" y="0"/>
                </a:moveTo>
                <a:lnTo>
                  <a:pt x="8045501" y="0"/>
                </a:lnTo>
                <a:lnTo>
                  <a:pt x="8045501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" r="-19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3" name="TextBox 23"/>
          <p:cNvSpPr txBox="1"/>
          <p:nvPr/>
        </p:nvSpPr>
        <p:spPr>
          <a:xfrm>
            <a:off x="9250261" y="8387953"/>
            <a:ext cx="3189684" cy="45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499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Teste de Segurança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50261" y="8929983"/>
            <a:ext cx="8045501" cy="31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625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Verificação completa em menos de 2 minutos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8" name="Freeform 8" descr="preencoded.png"/>
          <p:cNvSpPr/>
          <p:nvPr/>
        </p:nvSpPr>
        <p:spPr>
          <a:xfrm>
            <a:off x="40005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6" name="Freeform 6" descr="preencoded.png"/>
          <p:cNvSpPr/>
          <p:nvPr/>
        </p:nvSpPr>
        <p:spPr>
          <a:xfrm>
            <a:off x="11087100" y="0"/>
            <a:ext cx="7200900" cy="10287000"/>
          </a:xfrm>
          <a:custGeom>
            <a:avLst/>
            <a:gdLst/>
            <a:ahLst/>
            <a:cxnLst/>
            <a:rect l="l" t="t" r="r" b="b"/>
            <a:pathLst>
              <a:path w="7200900" h="102870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TextBox 7"/>
          <p:cNvSpPr txBox="1"/>
          <p:nvPr/>
        </p:nvSpPr>
        <p:spPr>
          <a:xfrm>
            <a:off x="1417434" y="3636912"/>
            <a:ext cx="9020327" cy="1531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437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Design Aerodinâmico e Resistente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7434" y="5555456"/>
            <a:ext cx="9020327" cy="1143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Construído com materiais de alta resistência, certificado IP67 para proteção contra água e poeira, suportando as condições mais exigentes.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2238" y="3268866"/>
            <a:ext cx="38100" cy="3749126"/>
            <a:chOff x="0" y="0"/>
            <a:chExt cx="50800" cy="49988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800" cy="4998847"/>
            </a:xfrm>
            <a:custGeom>
              <a:avLst/>
              <a:gdLst/>
              <a:ahLst/>
              <a:cxnLst/>
              <a:rect l="l" t="t" r="r" b="b"/>
              <a:pathLst>
                <a:path w="50800" h="4998847">
                  <a:moveTo>
                    <a:pt x="0" y="0"/>
                  </a:moveTo>
                  <a:lnTo>
                    <a:pt x="50800" y="0"/>
                  </a:lnTo>
                  <a:lnTo>
                    <a:pt x="50800" y="4998847"/>
                  </a:lnTo>
                  <a:lnTo>
                    <a:pt x="0" y="4998847"/>
                  </a:ln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2238" y="897284"/>
            <a:ext cx="9325566" cy="859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4687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Controlo à Distância Inteligente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2238" y="2311451"/>
            <a:ext cx="4526309" cy="51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812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Gestão Remota Completa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022254"/>
            <a:ext cx="7857830" cy="67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Controle total do sistema através do seu smartphone, permitindo ajustes em tempo real e monitoramento constante da performance.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77951" y="3952875"/>
            <a:ext cx="570757" cy="570757"/>
            <a:chOff x="0" y="0"/>
            <a:chExt cx="761009" cy="761009"/>
          </a:xfrm>
        </p:grpSpPr>
        <p:sp>
          <p:nvSpPr>
            <p:cNvPr id="9" name="Freeform 9"/>
            <p:cNvSpPr/>
            <p:nvPr/>
          </p:nvSpPr>
          <p:spPr>
            <a:xfrm>
              <a:off x="19050" y="1905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588010" y="0"/>
                  </a:lnTo>
                  <a:cubicBezTo>
                    <a:pt x="662559" y="0"/>
                    <a:pt x="723011" y="60452"/>
                    <a:pt x="723011" y="135001"/>
                  </a:cubicBezTo>
                  <a:lnTo>
                    <a:pt x="723011" y="588010"/>
                  </a:lnTo>
                  <a:cubicBezTo>
                    <a:pt x="723011" y="662559"/>
                    <a:pt x="662559" y="723011"/>
                    <a:pt x="588010" y="723011"/>
                  </a:cubicBezTo>
                  <a:lnTo>
                    <a:pt x="135001" y="723011"/>
                  </a:lnTo>
                  <a:cubicBezTo>
                    <a:pt x="60452" y="722884"/>
                    <a:pt x="0" y="662432"/>
                    <a:pt x="0" y="588010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761111" cy="761111"/>
            </a:xfrm>
            <a:custGeom>
              <a:avLst/>
              <a:gdLst/>
              <a:ahLst/>
              <a:cxnLst/>
              <a:rect l="l" t="t" r="r" b="b"/>
              <a:pathLst>
                <a:path w="761111" h="761111">
                  <a:moveTo>
                    <a:pt x="0" y="154051"/>
                  </a:moveTo>
                  <a:cubicBezTo>
                    <a:pt x="0" y="68961"/>
                    <a:pt x="68961" y="0"/>
                    <a:pt x="154051" y="0"/>
                  </a:cubicBezTo>
                  <a:lnTo>
                    <a:pt x="607060" y="0"/>
                  </a:lnTo>
                  <a:lnTo>
                    <a:pt x="607060" y="19050"/>
                  </a:lnTo>
                  <a:lnTo>
                    <a:pt x="607060" y="0"/>
                  </a:lnTo>
                  <a:cubicBezTo>
                    <a:pt x="692150" y="0"/>
                    <a:pt x="761111" y="68961"/>
                    <a:pt x="761111" y="154051"/>
                  </a:cubicBezTo>
                  <a:lnTo>
                    <a:pt x="742061" y="154051"/>
                  </a:lnTo>
                  <a:lnTo>
                    <a:pt x="761111" y="154051"/>
                  </a:lnTo>
                  <a:lnTo>
                    <a:pt x="761111" y="607060"/>
                  </a:lnTo>
                  <a:lnTo>
                    <a:pt x="742061" y="607060"/>
                  </a:lnTo>
                  <a:lnTo>
                    <a:pt x="761111" y="607060"/>
                  </a:lnTo>
                  <a:cubicBezTo>
                    <a:pt x="761111" y="692150"/>
                    <a:pt x="692150" y="761111"/>
                    <a:pt x="607060" y="761111"/>
                  </a:cubicBezTo>
                  <a:lnTo>
                    <a:pt x="607060" y="742061"/>
                  </a:lnTo>
                  <a:lnTo>
                    <a:pt x="607060" y="761111"/>
                  </a:lnTo>
                  <a:lnTo>
                    <a:pt x="154051" y="761111"/>
                  </a:lnTo>
                  <a:lnTo>
                    <a:pt x="154051" y="742061"/>
                  </a:lnTo>
                  <a:lnTo>
                    <a:pt x="154051" y="761111"/>
                  </a:lnTo>
                  <a:cubicBezTo>
                    <a:pt x="68961" y="760984"/>
                    <a:pt x="0" y="692023"/>
                    <a:pt x="0" y="607060"/>
                  </a:cubicBezTo>
                  <a:lnTo>
                    <a:pt x="0" y="154051"/>
                  </a:lnTo>
                  <a:lnTo>
                    <a:pt x="19050" y="154051"/>
                  </a:lnTo>
                  <a:lnTo>
                    <a:pt x="0" y="154051"/>
                  </a:lnTo>
                  <a:moveTo>
                    <a:pt x="38100" y="154051"/>
                  </a:moveTo>
                  <a:lnTo>
                    <a:pt x="38100" y="607060"/>
                  </a:lnTo>
                  <a:lnTo>
                    <a:pt x="19050" y="607060"/>
                  </a:lnTo>
                  <a:lnTo>
                    <a:pt x="38100" y="607060"/>
                  </a:lnTo>
                  <a:cubicBezTo>
                    <a:pt x="38100" y="671068"/>
                    <a:pt x="90043" y="723011"/>
                    <a:pt x="154051" y="723011"/>
                  </a:cubicBezTo>
                  <a:lnTo>
                    <a:pt x="607060" y="723011"/>
                  </a:lnTo>
                  <a:cubicBezTo>
                    <a:pt x="671068" y="723011"/>
                    <a:pt x="723011" y="671068"/>
                    <a:pt x="723011" y="607060"/>
                  </a:cubicBezTo>
                  <a:lnTo>
                    <a:pt x="723011" y="154051"/>
                  </a:lnTo>
                  <a:cubicBezTo>
                    <a:pt x="722884" y="90043"/>
                    <a:pt x="671068" y="38100"/>
                    <a:pt x="607060" y="38100"/>
                  </a:cubicBezTo>
                  <a:lnTo>
                    <a:pt x="154051" y="38100"/>
                  </a:lnTo>
                  <a:lnTo>
                    <a:pt x="154051" y="19050"/>
                  </a:lnTo>
                  <a:lnTo>
                    <a:pt x="154051" y="38100"/>
                  </a:lnTo>
                  <a:cubicBezTo>
                    <a:pt x="90043" y="38100"/>
                    <a:pt x="38100" y="90043"/>
                    <a:pt x="38100" y="154051"/>
                  </a:cubicBezTo>
                  <a:close/>
                </a:path>
              </a:pathLst>
            </a:custGeom>
            <a:solidFill>
              <a:srgbClr val="002A8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75374" y="3994842"/>
            <a:ext cx="4501458" cy="439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Ativação/Desativação Remota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75374" y="4627359"/>
            <a:ext cx="7074694" cy="67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Controle o sistema de travagem automática com um toque no aplicativo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77951" y="5768873"/>
            <a:ext cx="570757" cy="570757"/>
            <a:chOff x="0" y="0"/>
            <a:chExt cx="761009" cy="761009"/>
          </a:xfrm>
        </p:grpSpPr>
        <p:sp>
          <p:nvSpPr>
            <p:cNvPr id="14" name="Freeform 14"/>
            <p:cNvSpPr/>
            <p:nvPr/>
          </p:nvSpPr>
          <p:spPr>
            <a:xfrm>
              <a:off x="19050" y="1905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588010" y="0"/>
                  </a:lnTo>
                  <a:cubicBezTo>
                    <a:pt x="662559" y="0"/>
                    <a:pt x="723011" y="60452"/>
                    <a:pt x="723011" y="135001"/>
                  </a:cubicBezTo>
                  <a:lnTo>
                    <a:pt x="723011" y="588010"/>
                  </a:lnTo>
                  <a:cubicBezTo>
                    <a:pt x="723011" y="662559"/>
                    <a:pt x="662559" y="723011"/>
                    <a:pt x="588010" y="723011"/>
                  </a:cubicBezTo>
                  <a:lnTo>
                    <a:pt x="135001" y="723011"/>
                  </a:lnTo>
                  <a:cubicBezTo>
                    <a:pt x="60452" y="722884"/>
                    <a:pt x="0" y="662432"/>
                    <a:pt x="0" y="588010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761111" cy="761111"/>
            </a:xfrm>
            <a:custGeom>
              <a:avLst/>
              <a:gdLst/>
              <a:ahLst/>
              <a:cxnLst/>
              <a:rect l="l" t="t" r="r" b="b"/>
              <a:pathLst>
                <a:path w="761111" h="761111">
                  <a:moveTo>
                    <a:pt x="0" y="154051"/>
                  </a:moveTo>
                  <a:cubicBezTo>
                    <a:pt x="0" y="68961"/>
                    <a:pt x="68961" y="0"/>
                    <a:pt x="154051" y="0"/>
                  </a:cubicBezTo>
                  <a:lnTo>
                    <a:pt x="607060" y="0"/>
                  </a:lnTo>
                  <a:lnTo>
                    <a:pt x="607060" y="19050"/>
                  </a:lnTo>
                  <a:lnTo>
                    <a:pt x="607060" y="0"/>
                  </a:lnTo>
                  <a:cubicBezTo>
                    <a:pt x="692150" y="0"/>
                    <a:pt x="761111" y="68961"/>
                    <a:pt x="761111" y="154051"/>
                  </a:cubicBezTo>
                  <a:lnTo>
                    <a:pt x="742061" y="154051"/>
                  </a:lnTo>
                  <a:lnTo>
                    <a:pt x="761111" y="154051"/>
                  </a:lnTo>
                  <a:lnTo>
                    <a:pt x="761111" y="607060"/>
                  </a:lnTo>
                  <a:lnTo>
                    <a:pt x="742061" y="607060"/>
                  </a:lnTo>
                  <a:lnTo>
                    <a:pt x="761111" y="607060"/>
                  </a:lnTo>
                  <a:cubicBezTo>
                    <a:pt x="761111" y="692150"/>
                    <a:pt x="692150" y="761111"/>
                    <a:pt x="607060" y="761111"/>
                  </a:cubicBezTo>
                  <a:lnTo>
                    <a:pt x="607060" y="742061"/>
                  </a:lnTo>
                  <a:lnTo>
                    <a:pt x="607060" y="761111"/>
                  </a:lnTo>
                  <a:lnTo>
                    <a:pt x="154051" y="761111"/>
                  </a:lnTo>
                  <a:lnTo>
                    <a:pt x="154051" y="742061"/>
                  </a:lnTo>
                  <a:lnTo>
                    <a:pt x="154051" y="761111"/>
                  </a:lnTo>
                  <a:cubicBezTo>
                    <a:pt x="68961" y="760984"/>
                    <a:pt x="0" y="692023"/>
                    <a:pt x="0" y="607060"/>
                  </a:cubicBezTo>
                  <a:lnTo>
                    <a:pt x="0" y="154051"/>
                  </a:lnTo>
                  <a:lnTo>
                    <a:pt x="19050" y="154051"/>
                  </a:lnTo>
                  <a:lnTo>
                    <a:pt x="0" y="154051"/>
                  </a:lnTo>
                  <a:moveTo>
                    <a:pt x="38100" y="154051"/>
                  </a:moveTo>
                  <a:lnTo>
                    <a:pt x="38100" y="607060"/>
                  </a:lnTo>
                  <a:lnTo>
                    <a:pt x="19050" y="607060"/>
                  </a:lnTo>
                  <a:lnTo>
                    <a:pt x="38100" y="607060"/>
                  </a:lnTo>
                  <a:cubicBezTo>
                    <a:pt x="38100" y="671068"/>
                    <a:pt x="90043" y="723011"/>
                    <a:pt x="154051" y="723011"/>
                  </a:cubicBezTo>
                  <a:lnTo>
                    <a:pt x="607060" y="723011"/>
                  </a:lnTo>
                  <a:cubicBezTo>
                    <a:pt x="671068" y="723011"/>
                    <a:pt x="723011" y="671068"/>
                    <a:pt x="723011" y="607060"/>
                  </a:cubicBezTo>
                  <a:lnTo>
                    <a:pt x="723011" y="154051"/>
                  </a:lnTo>
                  <a:cubicBezTo>
                    <a:pt x="722884" y="90043"/>
                    <a:pt x="671068" y="38100"/>
                    <a:pt x="607060" y="38100"/>
                  </a:cubicBezTo>
                  <a:lnTo>
                    <a:pt x="154051" y="38100"/>
                  </a:lnTo>
                  <a:lnTo>
                    <a:pt x="154051" y="19050"/>
                  </a:lnTo>
                  <a:lnTo>
                    <a:pt x="154051" y="38100"/>
                  </a:lnTo>
                  <a:cubicBezTo>
                    <a:pt x="90043" y="38100"/>
                    <a:pt x="38100" y="90043"/>
                    <a:pt x="38100" y="154051"/>
                  </a:cubicBezTo>
                  <a:close/>
                </a:path>
              </a:pathLst>
            </a:custGeom>
            <a:solidFill>
              <a:srgbClr val="002A8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75374" y="5810841"/>
            <a:ext cx="3012434" cy="439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Alertas Inteligentes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75374" y="6443367"/>
            <a:ext cx="7074694" cy="67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Notificações instantâneas sobre status da bateria, manutenção e atualizações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77951" y="7584872"/>
            <a:ext cx="570757" cy="570757"/>
            <a:chOff x="0" y="0"/>
            <a:chExt cx="761009" cy="761009"/>
          </a:xfrm>
        </p:grpSpPr>
        <p:sp>
          <p:nvSpPr>
            <p:cNvPr id="19" name="Freeform 19"/>
            <p:cNvSpPr/>
            <p:nvPr/>
          </p:nvSpPr>
          <p:spPr>
            <a:xfrm>
              <a:off x="19050" y="19050"/>
              <a:ext cx="723011" cy="723011"/>
            </a:xfrm>
            <a:custGeom>
              <a:avLst/>
              <a:gdLst/>
              <a:ahLst/>
              <a:cxnLst/>
              <a:rect l="l" t="t" r="r" b="b"/>
              <a:pathLst>
                <a:path w="723011" h="723011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588010" y="0"/>
                  </a:lnTo>
                  <a:cubicBezTo>
                    <a:pt x="662559" y="0"/>
                    <a:pt x="723011" y="60452"/>
                    <a:pt x="723011" y="135001"/>
                  </a:cubicBezTo>
                  <a:lnTo>
                    <a:pt x="723011" y="588010"/>
                  </a:lnTo>
                  <a:cubicBezTo>
                    <a:pt x="723011" y="662559"/>
                    <a:pt x="662559" y="723011"/>
                    <a:pt x="588010" y="723011"/>
                  </a:cubicBezTo>
                  <a:lnTo>
                    <a:pt x="135001" y="723011"/>
                  </a:lnTo>
                  <a:cubicBezTo>
                    <a:pt x="60452" y="722884"/>
                    <a:pt x="0" y="662432"/>
                    <a:pt x="0" y="588010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761111" cy="761111"/>
            </a:xfrm>
            <a:custGeom>
              <a:avLst/>
              <a:gdLst/>
              <a:ahLst/>
              <a:cxnLst/>
              <a:rect l="l" t="t" r="r" b="b"/>
              <a:pathLst>
                <a:path w="761111" h="761111">
                  <a:moveTo>
                    <a:pt x="0" y="154051"/>
                  </a:moveTo>
                  <a:cubicBezTo>
                    <a:pt x="0" y="68961"/>
                    <a:pt x="68961" y="0"/>
                    <a:pt x="154051" y="0"/>
                  </a:cubicBezTo>
                  <a:lnTo>
                    <a:pt x="607060" y="0"/>
                  </a:lnTo>
                  <a:lnTo>
                    <a:pt x="607060" y="19050"/>
                  </a:lnTo>
                  <a:lnTo>
                    <a:pt x="607060" y="0"/>
                  </a:lnTo>
                  <a:cubicBezTo>
                    <a:pt x="692150" y="0"/>
                    <a:pt x="761111" y="68961"/>
                    <a:pt x="761111" y="154051"/>
                  </a:cubicBezTo>
                  <a:lnTo>
                    <a:pt x="742061" y="154051"/>
                  </a:lnTo>
                  <a:lnTo>
                    <a:pt x="761111" y="154051"/>
                  </a:lnTo>
                  <a:lnTo>
                    <a:pt x="761111" y="607060"/>
                  </a:lnTo>
                  <a:lnTo>
                    <a:pt x="742061" y="607060"/>
                  </a:lnTo>
                  <a:lnTo>
                    <a:pt x="761111" y="607060"/>
                  </a:lnTo>
                  <a:cubicBezTo>
                    <a:pt x="761111" y="692150"/>
                    <a:pt x="692150" y="761111"/>
                    <a:pt x="607060" y="761111"/>
                  </a:cubicBezTo>
                  <a:lnTo>
                    <a:pt x="607060" y="742061"/>
                  </a:lnTo>
                  <a:lnTo>
                    <a:pt x="607060" y="761111"/>
                  </a:lnTo>
                  <a:lnTo>
                    <a:pt x="154051" y="761111"/>
                  </a:lnTo>
                  <a:lnTo>
                    <a:pt x="154051" y="742061"/>
                  </a:lnTo>
                  <a:lnTo>
                    <a:pt x="154051" y="761111"/>
                  </a:lnTo>
                  <a:cubicBezTo>
                    <a:pt x="68961" y="760984"/>
                    <a:pt x="0" y="692023"/>
                    <a:pt x="0" y="607060"/>
                  </a:cubicBezTo>
                  <a:lnTo>
                    <a:pt x="0" y="154051"/>
                  </a:lnTo>
                  <a:lnTo>
                    <a:pt x="19050" y="154051"/>
                  </a:lnTo>
                  <a:lnTo>
                    <a:pt x="0" y="154051"/>
                  </a:lnTo>
                  <a:moveTo>
                    <a:pt x="38100" y="154051"/>
                  </a:moveTo>
                  <a:lnTo>
                    <a:pt x="38100" y="607060"/>
                  </a:lnTo>
                  <a:lnTo>
                    <a:pt x="19050" y="607060"/>
                  </a:lnTo>
                  <a:lnTo>
                    <a:pt x="38100" y="607060"/>
                  </a:lnTo>
                  <a:cubicBezTo>
                    <a:pt x="38100" y="671068"/>
                    <a:pt x="90043" y="723011"/>
                    <a:pt x="154051" y="723011"/>
                  </a:cubicBezTo>
                  <a:lnTo>
                    <a:pt x="607060" y="723011"/>
                  </a:lnTo>
                  <a:cubicBezTo>
                    <a:pt x="671068" y="723011"/>
                    <a:pt x="723011" y="671068"/>
                    <a:pt x="723011" y="607060"/>
                  </a:cubicBezTo>
                  <a:lnTo>
                    <a:pt x="723011" y="154051"/>
                  </a:lnTo>
                  <a:cubicBezTo>
                    <a:pt x="722884" y="90043"/>
                    <a:pt x="671068" y="38100"/>
                    <a:pt x="607060" y="38100"/>
                  </a:cubicBezTo>
                  <a:lnTo>
                    <a:pt x="154051" y="38100"/>
                  </a:lnTo>
                  <a:lnTo>
                    <a:pt x="154051" y="19050"/>
                  </a:lnTo>
                  <a:lnTo>
                    <a:pt x="154051" y="38100"/>
                  </a:lnTo>
                  <a:cubicBezTo>
                    <a:pt x="90043" y="38100"/>
                    <a:pt x="38100" y="90043"/>
                    <a:pt x="38100" y="154051"/>
                  </a:cubicBezTo>
                  <a:close/>
                </a:path>
              </a:pathLst>
            </a:custGeom>
            <a:solidFill>
              <a:srgbClr val="002A8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775374" y="7626848"/>
            <a:ext cx="3012434" cy="439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Modo Anti-Roubo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75374" y="8259366"/>
            <a:ext cx="7074694" cy="67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Sistema de alarme com imobilização remota e rastreamento GPS ativo</a:t>
            </a:r>
          </a:p>
        </p:txBody>
      </p:sp>
      <p:sp>
        <p:nvSpPr>
          <p:cNvPr id="23" name="Freeform 23" descr="preencoded.png"/>
          <p:cNvSpPr/>
          <p:nvPr/>
        </p:nvSpPr>
        <p:spPr>
          <a:xfrm>
            <a:off x="10049770" y="2389137"/>
            <a:ext cx="6653212" cy="6653212"/>
          </a:xfrm>
          <a:custGeom>
            <a:avLst/>
            <a:gdLst/>
            <a:ahLst/>
            <a:cxnLst/>
            <a:rect l="l" t="t" r="r" b="b"/>
            <a:pathLst>
              <a:path w="6653212" h="6653212">
                <a:moveTo>
                  <a:pt x="0" y="0"/>
                </a:moveTo>
                <a:lnTo>
                  <a:pt x="6653213" y="0"/>
                </a:lnTo>
                <a:lnTo>
                  <a:pt x="6653213" y="6653212"/>
                </a:lnTo>
                <a:lnTo>
                  <a:pt x="0" y="6653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2238" y="854278"/>
            <a:ext cx="7941021" cy="951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4"/>
              </a:lnSpc>
            </a:pPr>
            <a:r>
              <a:rPr lang="en-US" sz="525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Público‑Alvo e Personas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2238" y="2306393"/>
            <a:ext cx="16303523" cy="738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06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Nossa solução atende às necessidades de diversos perfis de ciclistas que buscam segurança, tecnologia e tranquilidade em seus percursos diários e desportivos.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3347885"/>
            <a:ext cx="673303" cy="673303"/>
          </a:xfrm>
          <a:custGeom>
            <a:avLst/>
            <a:gdLst/>
            <a:ahLst/>
            <a:cxnLst/>
            <a:rect l="l" t="t" r="r" b="b"/>
            <a:pathLst>
              <a:path w="673303" h="673303">
                <a:moveTo>
                  <a:pt x="0" y="0"/>
                </a:moveTo>
                <a:lnTo>
                  <a:pt x="673303" y="0"/>
                </a:lnTo>
                <a:lnTo>
                  <a:pt x="673303" y="673303"/>
                </a:lnTo>
                <a:lnTo>
                  <a:pt x="0" y="673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225" r="-4224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8" name="TextBox 8"/>
          <p:cNvSpPr txBox="1"/>
          <p:nvPr/>
        </p:nvSpPr>
        <p:spPr>
          <a:xfrm>
            <a:off x="992238" y="4310215"/>
            <a:ext cx="3366935" cy="48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625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Ciclistas Urbanos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918767"/>
            <a:ext cx="5210023" cy="1438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06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Profissionais que utilizam a bicicleta como meio de transporte principal para deslocações diárias em ambientes urbanos de alto tráfego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6538912" y="3347885"/>
            <a:ext cx="673303" cy="673303"/>
          </a:xfrm>
          <a:custGeom>
            <a:avLst/>
            <a:gdLst/>
            <a:ahLst/>
            <a:cxnLst/>
            <a:rect l="l" t="t" r="r" b="b"/>
            <a:pathLst>
              <a:path w="673303" h="673303">
                <a:moveTo>
                  <a:pt x="0" y="0"/>
                </a:moveTo>
                <a:lnTo>
                  <a:pt x="673304" y="0"/>
                </a:lnTo>
                <a:lnTo>
                  <a:pt x="673304" y="673303"/>
                </a:lnTo>
                <a:lnTo>
                  <a:pt x="0" y="673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563" r="-10563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1" name="TextBox 11"/>
          <p:cNvSpPr txBox="1"/>
          <p:nvPr/>
        </p:nvSpPr>
        <p:spPr>
          <a:xfrm>
            <a:off x="6538912" y="4310215"/>
            <a:ext cx="3535709" cy="48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625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Ciclistas Desportivos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38912" y="4918767"/>
            <a:ext cx="5210023" cy="1438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06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Praticantes de ciclismo de estrada e BTT que buscam proteção adicional em treinos de alta velocidade e terrenos desafiadores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2085587" y="3347885"/>
            <a:ext cx="673303" cy="673303"/>
          </a:xfrm>
          <a:custGeom>
            <a:avLst/>
            <a:gdLst/>
            <a:ahLst/>
            <a:cxnLst/>
            <a:rect l="l" t="t" r="r" b="b"/>
            <a:pathLst>
              <a:path w="673303" h="673303">
                <a:moveTo>
                  <a:pt x="0" y="0"/>
                </a:moveTo>
                <a:lnTo>
                  <a:pt x="673303" y="0"/>
                </a:lnTo>
                <a:lnTo>
                  <a:pt x="673303" y="673303"/>
                </a:lnTo>
                <a:lnTo>
                  <a:pt x="0" y="6733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704" b="-703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4" name="TextBox 14"/>
          <p:cNvSpPr txBox="1"/>
          <p:nvPr/>
        </p:nvSpPr>
        <p:spPr>
          <a:xfrm>
            <a:off x="12085587" y="4310215"/>
            <a:ext cx="3366935" cy="48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625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Pais e Responsáveis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85587" y="4918767"/>
            <a:ext cx="5210175" cy="1088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06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Famílias que desejam garantir máxima segurança para seus filhos em trajetos escolares e passeios recreativos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92238" y="6795268"/>
            <a:ext cx="16303523" cy="43158"/>
            <a:chOff x="0" y="0"/>
            <a:chExt cx="21738031" cy="5754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38082" cy="57531"/>
            </a:xfrm>
            <a:custGeom>
              <a:avLst/>
              <a:gdLst/>
              <a:ahLst/>
              <a:cxnLst/>
              <a:rect l="l" t="t" r="r" b="b"/>
              <a:pathLst>
                <a:path w="21738082" h="57531">
                  <a:moveTo>
                    <a:pt x="0" y="0"/>
                  </a:moveTo>
                  <a:lnTo>
                    <a:pt x="21738082" y="0"/>
                  </a:lnTo>
                  <a:lnTo>
                    <a:pt x="21738082" y="57531"/>
                  </a:lnTo>
                  <a:lnTo>
                    <a:pt x="0" y="57531"/>
                  </a:lnTo>
                  <a:close/>
                </a:path>
              </a:pathLst>
            </a:custGeom>
            <a:solidFill>
              <a:srgbClr val="EBEDF0">
                <a:alpha val="2470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92238" y="7185127"/>
            <a:ext cx="4040238" cy="582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125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Personas Principais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2238" y="8375599"/>
            <a:ext cx="4939751" cy="738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062" b="1">
                <a:solidFill>
                  <a:srgbClr val="6296FF"/>
                </a:solidFill>
                <a:latin typeface="Arimo Bold"/>
                <a:ea typeface="Arimo Bold"/>
                <a:cs typeface="Arimo Bold"/>
                <a:sym typeface="Arimo Bold"/>
              </a:rPr>
              <a:t>João</a:t>
            </a:r>
            <a:r>
              <a:rPr lang="en-US" sz="206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– Commuter diário, 32 anos, busca segurança no trânsito urbano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98739" y="8375599"/>
            <a:ext cx="4939751" cy="738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062" b="1">
                <a:solidFill>
                  <a:srgbClr val="FAC496"/>
                </a:solidFill>
                <a:latin typeface="Arimo Bold"/>
                <a:ea typeface="Arimo Bold"/>
                <a:cs typeface="Arimo Bold"/>
                <a:sym typeface="Arimo Bold"/>
              </a:rPr>
              <a:t>Carla</a:t>
            </a:r>
            <a:r>
              <a:rPr lang="en-US" sz="206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– Ciclista fitness, 28 anos, treina regularmente em estradas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05249" y="8375599"/>
            <a:ext cx="5109420" cy="738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062" b="1">
                <a:solidFill>
                  <a:srgbClr val="C593DB"/>
                </a:solidFill>
                <a:latin typeface="Arimo Bold"/>
                <a:ea typeface="Arimo Bold"/>
                <a:cs typeface="Arimo Bold"/>
                <a:sym typeface="Arimo Bold"/>
              </a:rPr>
              <a:t>Pedro</a:t>
            </a:r>
            <a:r>
              <a:rPr lang="en-US" sz="206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– Pai de dois filhos, 41 anos, prioriza segurança familiar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2238" y="836266"/>
            <a:ext cx="10252024" cy="859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4687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Persona – João, o Commuter Diário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2238" y="2250434"/>
            <a:ext cx="3615033" cy="51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812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Perfil Demográfico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961237"/>
            <a:ext cx="9546879" cy="36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2437"/>
              </a:lnSpc>
              <a:buFont typeface="Arial"/>
              <a:buChar char="•"/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Idade: 32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358601"/>
            <a:ext cx="9546879" cy="36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2437"/>
              </a:lnSpc>
              <a:buFont typeface="Arial"/>
              <a:buChar char="•"/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Profissional urbano em grandes centros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755974"/>
            <a:ext cx="9546879" cy="36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2437"/>
              </a:lnSpc>
              <a:buFont typeface="Arial"/>
              <a:buChar char="•"/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Rendimento médio-alto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153348"/>
            <a:ext cx="9546879" cy="36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2437"/>
              </a:lnSpc>
              <a:buFont typeface="Arial"/>
              <a:buChar char="•"/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Consciente ambientalmente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707436"/>
            <a:ext cx="5763663" cy="51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812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Comportamento e Necessidades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418239"/>
            <a:ext cx="9546879" cy="98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João pedala entre 10-15km diariamente em trajetos casa-trabalho, enfrentando tráfego intenso, cruzamentos perigosos e condições climáticas variáveis. Valoriza pontualidade, segurança e eficiência.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6598596"/>
            <a:ext cx="3012434" cy="439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 b="1">
                <a:solidFill>
                  <a:srgbClr val="6296FF"/>
                </a:solidFill>
                <a:latin typeface="Arimo Bold"/>
                <a:ea typeface="Arimo Bold"/>
                <a:cs typeface="Arimo Bold"/>
                <a:sym typeface="Arimo Bold"/>
              </a:rPr>
              <a:t>Mensagem-Chave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2238" y="7308799"/>
            <a:ext cx="9546879" cy="951462"/>
            <a:chOff x="0" y="0"/>
            <a:chExt cx="12729172" cy="12686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729210" cy="1268603"/>
            </a:xfrm>
            <a:custGeom>
              <a:avLst/>
              <a:gdLst/>
              <a:ahLst/>
              <a:cxnLst/>
              <a:rect l="l" t="t" r="r" b="b"/>
              <a:pathLst>
                <a:path w="12729210" h="1268603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12594209" y="0"/>
                  </a:lnTo>
                  <a:cubicBezTo>
                    <a:pt x="12668758" y="0"/>
                    <a:pt x="12729210" y="60452"/>
                    <a:pt x="12729210" y="135001"/>
                  </a:cubicBezTo>
                  <a:lnTo>
                    <a:pt x="12729210" y="1133602"/>
                  </a:lnTo>
                  <a:cubicBezTo>
                    <a:pt x="12729210" y="1208151"/>
                    <a:pt x="12668758" y="1268603"/>
                    <a:pt x="12594209" y="1268603"/>
                  </a:cubicBezTo>
                  <a:lnTo>
                    <a:pt x="135001" y="1268603"/>
                  </a:lnTo>
                  <a:cubicBezTo>
                    <a:pt x="60452" y="1268603"/>
                    <a:pt x="0" y="1208151"/>
                    <a:pt x="0" y="1133602"/>
                  </a:cubicBezTo>
                  <a:close/>
                </a:path>
              </a:pathLst>
            </a:custGeom>
            <a:solidFill>
              <a:srgbClr val="00194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1233192" y="7637116"/>
            <a:ext cx="301228" cy="240954"/>
          </a:xfrm>
          <a:custGeom>
            <a:avLst/>
            <a:gdLst/>
            <a:ahLst/>
            <a:cxnLst/>
            <a:rect l="l" t="t" r="r" b="b"/>
            <a:pathLst>
              <a:path w="301228" h="240954">
                <a:moveTo>
                  <a:pt x="0" y="0"/>
                </a:moveTo>
                <a:lnTo>
                  <a:pt x="301228" y="0"/>
                </a:lnTo>
                <a:lnTo>
                  <a:pt x="301228" y="240954"/>
                </a:lnTo>
                <a:lnTo>
                  <a:pt x="0" y="240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92" r="-119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7" name="TextBox 17"/>
          <p:cNvSpPr txBox="1"/>
          <p:nvPr/>
        </p:nvSpPr>
        <p:spPr>
          <a:xfrm>
            <a:off x="1775374" y="7562259"/>
            <a:ext cx="8522789" cy="36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"Chegue ao trabalho com segurança e tranquilidade, todos os dias"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38" y="8483651"/>
            <a:ext cx="9546879" cy="67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O I-Brakebicycle oferece proteção inteligente no trânsito urbano caótico, reduzindo stress e aumentando confiança em cada trajeto.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11500542" y="3908222"/>
            <a:ext cx="5440566" cy="3615033"/>
          </a:xfrm>
          <a:custGeom>
            <a:avLst/>
            <a:gdLst/>
            <a:ahLst/>
            <a:cxnLst/>
            <a:rect l="l" t="t" r="r" b="b"/>
            <a:pathLst>
              <a:path w="5440566" h="3615033">
                <a:moveTo>
                  <a:pt x="0" y="0"/>
                </a:moveTo>
                <a:lnTo>
                  <a:pt x="5440566" y="0"/>
                </a:lnTo>
                <a:lnTo>
                  <a:pt x="5440566" y="3615033"/>
                </a:lnTo>
                <a:lnTo>
                  <a:pt x="0" y="36150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8" b="-78"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2238" y="748160"/>
            <a:ext cx="9972227" cy="951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4"/>
              </a:lnSpc>
            </a:pPr>
            <a:r>
              <a:rPr lang="en-US" sz="5250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Persona – Carla, a Ciclista BTT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2238" y="2315766"/>
            <a:ext cx="4040238" cy="582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125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Perfil Demográfico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129258"/>
            <a:ext cx="9519199" cy="38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2750"/>
              </a:lnSpc>
              <a:buFont typeface="Arial"/>
              <a:buChar char="•"/>
            </a:pPr>
            <a:r>
              <a:rPr lang="en-US" sz="206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Idade: 28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573666"/>
            <a:ext cx="9519199" cy="38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2750"/>
              </a:lnSpc>
              <a:buFont typeface="Arial"/>
              <a:buChar char="•"/>
            </a:pPr>
            <a:r>
              <a:rPr lang="en-US" sz="206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Entusiasta de fitness e ciclismo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018064"/>
            <a:ext cx="9519199" cy="38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2750"/>
              </a:lnSpc>
              <a:buFont typeface="Arial"/>
              <a:buChar char="•"/>
            </a:pPr>
            <a:r>
              <a:rPr lang="en-US" sz="206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Rendimento médio-alto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462462"/>
            <a:ext cx="9519199" cy="38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2750"/>
              </a:lnSpc>
              <a:buFont typeface="Arial"/>
              <a:buChar char="•"/>
            </a:pPr>
            <a:r>
              <a:rPr lang="en-US" sz="206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Busca performance e segurança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054946"/>
            <a:ext cx="9519199" cy="1088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06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Carla treina regularmente em estradas todo-terreno, participando de eventos e competições. Enfrenta velocidades altas e terrenos desafiadores, valorizando equipamento confiável e proteção durante treinos intensos.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365234"/>
            <a:ext cx="3366935" cy="48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625" b="1">
                <a:solidFill>
                  <a:srgbClr val="FAC496"/>
                </a:solidFill>
                <a:latin typeface="Arimo Bold"/>
                <a:ea typeface="Arimo Bold"/>
                <a:cs typeface="Arimo Bold"/>
                <a:sym typeface="Arimo Bold"/>
              </a:rPr>
              <a:t>Mensagem-Chave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2238" y="7153427"/>
            <a:ext cx="9519199" cy="1063523"/>
            <a:chOff x="0" y="0"/>
            <a:chExt cx="12692266" cy="14180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692253" cy="1418082"/>
            </a:xfrm>
            <a:custGeom>
              <a:avLst/>
              <a:gdLst/>
              <a:ahLst/>
              <a:cxnLst/>
              <a:rect l="l" t="t" r="r" b="b"/>
              <a:pathLst>
                <a:path w="12692253" h="1418082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12541377" y="0"/>
                  </a:lnTo>
                  <a:cubicBezTo>
                    <a:pt x="12624689" y="0"/>
                    <a:pt x="12692253" y="67564"/>
                    <a:pt x="12692253" y="150876"/>
                  </a:cubicBezTo>
                  <a:lnTo>
                    <a:pt x="12692253" y="1267206"/>
                  </a:lnTo>
                  <a:cubicBezTo>
                    <a:pt x="12692253" y="1350518"/>
                    <a:pt x="12624689" y="1418082"/>
                    <a:pt x="12541377" y="1418082"/>
                  </a:cubicBezTo>
                  <a:lnTo>
                    <a:pt x="150876" y="1418082"/>
                  </a:lnTo>
                  <a:cubicBezTo>
                    <a:pt x="67564" y="1418082"/>
                    <a:pt x="0" y="1350518"/>
                    <a:pt x="0" y="1267206"/>
                  </a:cubicBezTo>
                  <a:close/>
                </a:path>
              </a:pathLst>
            </a:custGeom>
            <a:solidFill>
              <a:srgbClr val="00194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5" name="Freeform 15" descr="preencoded.png"/>
          <p:cNvSpPr/>
          <p:nvPr/>
        </p:nvSpPr>
        <p:spPr>
          <a:xfrm>
            <a:off x="1261472" y="7521026"/>
            <a:ext cx="336652" cy="269234"/>
          </a:xfrm>
          <a:custGeom>
            <a:avLst/>
            <a:gdLst/>
            <a:ahLst/>
            <a:cxnLst/>
            <a:rect l="l" t="t" r="r" b="b"/>
            <a:pathLst>
              <a:path w="336652" h="269234">
                <a:moveTo>
                  <a:pt x="0" y="0"/>
                </a:moveTo>
                <a:lnTo>
                  <a:pt x="336652" y="0"/>
                </a:lnTo>
                <a:lnTo>
                  <a:pt x="336652" y="269233"/>
                </a:lnTo>
                <a:lnTo>
                  <a:pt x="0" y="269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7" b="-14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6" name="TextBox 16"/>
          <p:cNvSpPr txBox="1"/>
          <p:nvPr/>
        </p:nvSpPr>
        <p:spPr>
          <a:xfrm>
            <a:off x="1867348" y="7451827"/>
            <a:ext cx="8374856" cy="38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062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"Treina com confiança, protegido em cada volta"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38" y="8481860"/>
            <a:ext cx="9519199" cy="738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062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O I-Brakebicycle oferece proteção ativa em treinos de alta velocidade, permitindo foco total na performance.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11178178" y="2999184"/>
            <a:ext cx="5820518" cy="3867741"/>
          </a:xfrm>
          <a:custGeom>
            <a:avLst/>
            <a:gdLst/>
            <a:ahLst/>
            <a:cxnLst/>
            <a:rect l="l" t="t" r="r" b="b"/>
            <a:pathLst>
              <a:path w="5820518" h="3867741">
                <a:moveTo>
                  <a:pt x="0" y="0"/>
                </a:moveTo>
                <a:lnTo>
                  <a:pt x="5820518" y="0"/>
                </a:lnTo>
                <a:lnTo>
                  <a:pt x="5820518" y="3867741"/>
                </a:lnTo>
                <a:lnTo>
                  <a:pt x="0" y="38677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" r="-1"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2238" y="836266"/>
            <a:ext cx="10398471" cy="859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4687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Persona – Pedro, o Pai Responsável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2238" y="2250434"/>
            <a:ext cx="3615033" cy="51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812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Perfil Demográfico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961237"/>
            <a:ext cx="9546879" cy="36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2437"/>
              </a:lnSpc>
              <a:buFont typeface="Arial"/>
              <a:buChar char="•"/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Idade: 41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358601"/>
            <a:ext cx="9546879" cy="36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2437"/>
              </a:lnSpc>
              <a:buFont typeface="Arial"/>
              <a:buChar char="•"/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Pai de filhos em idade escolar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755974"/>
            <a:ext cx="9546879" cy="36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2437"/>
              </a:lnSpc>
              <a:buFont typeface="Arial"/>
              <a:buChar char="•"/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Rendimento médio-alto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153348"/>
            <a:ext cx="9546879" cy="36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2773" lvl="1" indent="-141387" algn="l">
              <a:lnSpc>
                <a:spcPts val="2437"/>
              </a:lnSpc>
              <a:buFont typeface="Arial"/>
              <a:buChar char="•"/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Prioriza segurança familiar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707436"/>
            <a:ext cx="5763663" cy="51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812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Comportamento e Necessidades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418239"/>
            <a:ext cx="9546879" cy="98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Pedro utiliza a bicicleta para trajetos familiares, passeios recreativos e deslocações escolares. Preocupa-se constantemente com a segurança dos filhos, valorizando tecnologia que oferece proteção ativa e monitoramento.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6598596"/>
            <a:ext cx="3012434" cy="439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 b="1">
                <a:solidFill>
                  <a:srgbClr val="C593DB"/>
                </a:solidFill>
                <a:latin typeface="Arimo Bold"/>
                <a:ea typeface="Arimo Bold"/>
                <a:cs typeface="Arimo Bold"/>
                <a:sym typeface="Arimo Bold"/>
              </a:rPr>
              <a:t>Mensagem-Chave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2238" y="7308799"/>
            <a:ext cx="9546879" cy="951462"/>
            <a:chOff x="0" y="0"/>
            <a:chExt cx="12729172" cy="12686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729210" cy="1268603"/>
            </a:xfrm>
            <a:custGeom>
              <a:avLst/>
              <a:gdLst/>
              <a:ahLst/>
              <a:cxnLst/>
              <a:rect l="l" t="t" r="r" b="b"/>
              <a:pathLst>
                <a:path w="12729210" h="1268603">
                  <a:moveTo>
                    <a:pt x="0" y="135001"/>
                  </a:moveTo>
                  <a:cubicBezTo>
                    <a:pt x="0" y="60452"/>
                    <a:pt x="60452" y="0"/>
                    <a:pt x="135001" y="0"/>
                  </a:cubicBezTo>
                  <a:lnTo>
                    <a:pt x="12594209" y="0"/>
                  </a:lnTo>
                  <a:cubicBezTo>
                    <a:pt x="12668758" y="0"/>
                    <a:pt x="12729210" y="60452"/>
                    <a:pt x="12729210" y="135001"/>
                  </a:cubicBezTo>
                  <a:lnTo>
                    <a:pt x="12729210" y="1133602"/>
                  </a:lnTo>
                  <a:cubicBezTo>
                    <a:pt x="12729210" y="1208151"/>
                    <a:pt x="12668758" y="1268603"/>
                    <a:pt x="12594209" y="1268603"/>
                  </a:cubicBezTo>
                  <a:lnTo>
                    <a:pt x="135001" y="1268603"/>
                  </a:lnTo>
                  <a:cubicBezTo>
                    <a:pt x="60452" y="1268603"/>
                    <a:pt x="0" y="1208151"/>
                    <a:pt x="0" y="1133602"/>
                  </a:cubicBezTo>
                  <a:close/>
                </a:path>
              </a:pathLst>
            </a:custGeom>
            <a:solidFill>
              <a:srgbClr val="00194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1233192" y="7637116"/>
            <a:ext cx="301228" cy="240954"/>
          </a:xfrm>
          <a:custGeom>
            <a:avLst/>
            <a:gdLst/>
            <a:ahLst/>
            <a:cxnLst/>
            <a:rect l="l" t="t" r="r" b="b"/>
            <a:pathLst>
              <a:path w="301228" h="240954">
                <a:moveTo>
                  <a:pt x="0" y="0"/>
                </a:moveTo>
                <a:lnTo>
                  <a:pt x="301228" y="0"/>
                </a:lnTo>
                <a:lnTo>
                  <a:pt x="301228" y="240954"/>
                </a:lnTo>
                <a:lnTo>
                  <a:pt x="0" y="240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92" r="-119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7" name="TextBox 17"/>
          <p:cNvSpPr txBox="1"/>
          <p:nvPr/>
        </p:nvSpPr>
        <p:spPr>
          <a:xfrm>
            <a:off x="1775374" y="7562259"/>
            <a:ext cx="8522789" cy="360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"Proteja quem ama com tecnologia inteligente"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38" y="8483651"/>
            <a:ext cx="9546879" cy="67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O I-Brakebicycle oferece tranquilidade aos pais, garantindo proteção automática em cada trajeto familiar.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11136516" y="2858091"/>
            <a:ext cx="5243217" cy="3484064"/>
          </a:xfrm>
          <a:custGeom>
            <a:avLst/>
            <a:gdLst/>
            <a:ahLst/>
            <a:cxnLst/>
            <a:rect l="l" t="t" r="r" b="b"/>
            <a:pathLst>
              <a:path w="5243217" h="3484064">
                <a:moveTo>
                  <a:pt x="0" y="0"/>
                </a:moveTo>
                <a:lnTo>
                  <a:pt x="5243217" y="0"/>
                </a:lnTo>
                <a:lnTo>
                  <a:pt x="5243217" y="3484064"/>
                </a:lnTo>
                <a:lnTo>
                  <a:pt x="0" y="34840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2" b="-72"/>
            </a:stretch>
          </a:blipFill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2238" y="1414310"/>
            <a:ext cx="8100717" cy="1007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0"/>
              </a:lnSpc>
            </a:pPr>
            <a:r>
              <a:rPr lang="en-US" sz="5562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Objetivos de Marketing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77951" y="2974181"/>
            <a:ext cx="8038509" cy="2786062"/>
            <a:chOff x="0" y="0"/>
            <a:chExt cx="10718013" cy="3714750"/>
          </a:xfrm>
        </p:grpSpPr>
        <p:sp>
          <p:nvSpPr>
            <p:cNvPr id="7" name="Freeform 7"/>
            <p:cNvSpPr/>
            <p:nvPr/>
          </p:nvSpPr>
          <p:spPr>
            <a:xfrm>
              <a:off x="19050" y="19050"/>
              <a:ext cx="10679938" cy="3676650"/>
            </a:xfrm>
            <a:custGeom>
              <a:avLst/>
              <a:gdLst/>
              <a:ahLst/>
              <a:cxnLst/>
              <a:rect l="l" t="t" r="r" b="b"/>
              <a:pathLst>
                <a:path w="10679938" h="3676650">
                  <a:moveTo>
                    <a:pt x="0" y="158750"/>
                  </a:moveTo>
                  <a:cubicBezTo>
                    <a:pt x="0" y="71120"/>
                    <a:pt x="71628" y="0"/>
                    <a:pt x="159893" y="0"/>
                  </a:cubicBezTo>
                  <a:lnTo>
                    <a:pt x="10520045" y="0"/>
                  </a:lnTo>
                  <a:cubicBezTo>
                    <a:pt x="10608310" y="0"/>
                    <a:pt x="10679938" y="71120"/>
                    <a:pt x="10679938" y="158750"/>
                  </a:cubicBezTo>
                  <a:lnTo>
                    <a:pt x="10679938" y="3517900"/>
                  </a:lnTo>
                  <a:cubicBezTo>
                    <a:pt x="10679938" y="3605657"/>
                    <a:pt x="10608310" y="3676650"/>
                    <a:pt x="10520045" y="3676650"/>
                  </a:cubicBezTo>
                  <a:lnTo>
                    <a:pt x="159893" y="3676650"/>
                  </a:lnTo>
                  <a:cubicBezTo>
                    <a:pt x="71628" y="3676650"/>
                    <a:pt x="0" y="3605530"/>
                    <a:pt x="0" y="3517900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0718038" cy="3714750"/>
            </a:xfrm>
            <a:custGeom>
              <a:avLst/>
              <a:gdLst/>
              <a:ahLst/>
              <a:cxnLst/>
              <a:rect l="l" t="t" r="r" b="b"/>
              <a:pathLst>
                <a:path w="10718038" h="3714750">
                  <a:moveTo>
                    <a:pt x="0" y="177800"/>
                  </a:moveTo>
                  <a:cubicBezTo>
                    <a:pt x="0" y="79502"/>
                    <a:pt x="80264" y="0"/>
                    <a:pt x="178943" y="0"/>
                  </a:cubicBezTo>
                  <a:lnTo>
                    <a:pt x="10539095" y="0"/>
                  </a:lnTo>
                  <a:lnTo>
                    <a:pt x="10539095" y="19050"/>
                  </a:lnTo>
                  <a:lnTo>
                    <a:pt x="10539095" y="0"/>
                  </a:lnTo>
                  <a:cubicBezTo>
                    <a:pt x="10637774" y="0"/>
                    <a:pt x="10718038" y="79502"/>
                    <a:pt x="10718038" y="177800"/>
                  </a:cubicBezTo>
                  <a:lnTo>
                    <a:pt x="10698988" y="177800"/>
                  </a:lnTo>
                  <a:lnTo>
                    <a:pt x="10718038" y="177800"/>
                  </a:lnTo>
                  <a:lnTo>
                    <a:pt x="10718038" y="3536950"/>
                  </a:lnTo>
                  <a:lnTo>
                    <a:pt x="10698988" y="3536950"/>
                  </a:lnTo>
                  <a:lnTo>
                    <a:pt x="10718038" y="3536950"/>
                  </a:lnTo>
                  <a:cubicBezTo>
                    <a:pt x="10718038" y="3635248"/>
                    <a:pt x="10637774" y="3714750"/>
                    <a:pt x="10539095" y="3714750"/>
                  </a:cubicBezTo>
                  <a:lnTo>
                    <a:pt x="10539095" y="3695700"/>
                  </a:lnTo>
                  <a:lnTo>
                    <a:pt x="10539095" y="3714750"/>
                  </a:lnTo>
                  <a:lnTo>
                    <a:pt x="178943" y="3714750"/>
                  </a:lnTo>
                  <a:lnTo>
                    <a:pt x="178943" y="3695700"/>
                  </a:lnTo>
                  <a:lnTo>
                    <a:pt x="178943" y="3714750"/>
                  </a:lnTo>
                  <a:cubicBezTo>
                    <a:pt x="80264" y="3714750"/>
                    <a:pt x="0" y="3635248"/>
                    <a:pt x="0" y="3536950"/>
                  </a:cubicBezTo>
                  <a:lnTo>
                    <a:pt x="0" y="177800"/>
                  </a:lnTo>
                  <a:lnTo>
                    <a:pt x="19050" y="177800"/>
                  </a:lnTo>
                  <a:lnTo>
                    <a:pt x="0" y="177800"/>
                  </a:lnTo>
                  <a:moveTo>
                    <a:pt x="38100" y="177800"/>
                  </a:moveTo>
                  <a:lnTo>
                    <a:pt x="38100" y="3536950"/>
                  </a:lnTo>
                  <a:lnTo>
                    <a:pt x="19050" y="3536950"/>
                  </a:lnTo>
                  <a:lnTo>
                    <a:pt x="38100" y="3536950"/>
                  </a:lnTo>
                  <a:cubicBezTo>
                    <a:pt x="38100" y="3614039"/>
                    <a:pt x="100965" y="3676650"/>
                    <a:pt x="178943" y="3676650"/>
                  </a:cubicBezTo>
                  <a:lnTo>
                    <a:pt x="10539095" y="3676650"/>
                  </a:lnTo>
                  <a:cubicBezTo>
                    <a:pt x="10616946" y="3676650"/>
                    <a:pt x="10679938" y="3613912"/>
                    <a:pt x="10679938" y="3536950"/>
                  </a:cubicBezTo>
                  <a:lnTo>
                    <a:pt x="10679938" y="177800"/>
                  </a:lnTo>
                  <a:cubicBezTo>
                    <a:pt x="10679938" y="100711"/>
                    <a:pt x="10617073" y="38100"/>
                    <a:pt x="10539095" y="38100"/>
                  </a:cubicBezTo>
                  <a:lnTo>
                    <a:pt x="178943" y="38100"/>
                  </a:lnTo>
                  <a:lnTo>
                    <a:pt x="178943" y="19050"/>
                  </a:lnTo>
                  <a:lnTo>
                    <a:pt x="178943" y="38100"/>
                  </a:lnTo>
                  <a:cubicBezTo>
                    <a:pt x="100965" y="38100"/>
                    <a:pt x="38100" y="100838"/>
                    <a:pt x="38100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04334" y="3300565"/>
            <a:ext cx="850554" cy="850554"/>
            <a:chOff x="0" y="0"/>
            <a:chExt cx="1134072" cy="11340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1538288" y="3534518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219" b="-1219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TextBox 12"/>
          <p:cNvSpPr txBox="1"/>
          <p:nvPr/>
        </p:nvSpPr>
        <p:spPr>
          <a:xfrm>
            <a:off x="1304334" y="4377480"/>
            <a:ext cx="5624217" cy="51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Aumentar Notoriedade da Marca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4334" y="5027266"/>
            <a:ext cx="7385742" cy="40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Em 40% nos próximos 6 meses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71397" y="2974181"/>
            <a:ext cx="8038652" cy="2786062"/>
            <a:chOff x="0" y="0"/>
            <a:chExt cx="10718203" cy="3714750"/>
          </a:xfrm>
        </p:grpSpPr>
        <p:sp>
          <p:nvSpPr>
            <p:cNvPr id="15" name="Freeform 15"/>
            <p:cNvSpPr/>
            <p:nvPr/>
          </p:nvSpPr>
          <p:spPr>
            <a:xfrm>
              <a:off x="19050" y="19050"/>
              <a:ext cx="10680065" cy="3676650"/>
            </a:xfrm>
            <a:custGeom>
              <a:avLst/>
              <a:gdLst/>
              <a:ahLst/>
              <a:cxnLst/>
              <a:rect l="l" t="t" r="r" b="b"/>
              <a:pathLst>
                <a:path w="10680065" h="3676650">
                  <a:moveTo>
                    <a:pt x="0" y="158750"/>
                  </a:moveTo>
                  <a:cubicBezTo>
                    <a:pt x="0" y="71120"/>
                    <a:pt x="71628" y="0"/>
                    <a:pt x="159893" y="0"/>
                  </a:cubicBezTo>
                  <a:lnTo>
                    <a:pt x="10520172" y="0"/>
                  </a:lnTo>
                  <a:cubicBezTo>
                    <a:pt x="10608437" y="0"/>
                    <a:pt x="10680065" y="71120"/>
                    <a:pt x="10680065" y="158750"/>
                  </a:cubicBezTo>
                  <a:lnTo>
                    <a:pt x="10680065" y="3517900"/>
                  </a:lnTo>
                  <a:cubicBezTo>
                    <a:pt x="10680065" y="3605657"/>
                    <a:pt x="10608437" y="3676650"/>
                    <a:pt x="10520172" y="3676650"/>
                  </a:cubicBezTo>
                  <a:lnTo>
                    <a:pt x="159893" y="3676650"/>
                  </a:lnTo>
                  <a:cubicBezTo>
                    <a:pt x="71628" y="3676650"/>
                    <a:pt x="0" y="3605530"/>
                    <a:pt x="0" y="3517900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0718165" cy="3714750"/>
            </a:xfrm>
            <a:custGeom>
              <a:avLst/>
              <a:gdLst/>
              <a:ahLst/>
              <a:cxnLst/>
              <a:rect l="l" t="t" r="r" b="b"/>
              <a:pathLst>
                <a:path w="10718165" h="3714750">
                  <a:moveTo>
                    <a:pt x="0" y="177800"/>
                  </a:moveTo>
                  <a:cubicBezTo>
                    <a:pt x="0" y="79502"/>
                    <a:pt x="80264" y="0"/>
                    <a:pt x="178943" y="0"/>
                  </a:cubicBezTo>
                  <a:lnTo>
                    <a:pt x="10539222" y="0"/>
                  </a:lnTo>
                  <a:lnTo>
                    <a:pt x="10539222" y="19050"/>
                  </a:lnTo>
                  <a:lnTo>
                    <a:pt x="10539222" y="0"/>
                  </a:lnTo>
                  <a:cubicBezTo>
                    <a:pt x="10637901" y="0"/>
                    <a:pt x="10718165" y="79502"/>
                    <a:pt x="10718165" y="177800"/>
                  </a:cubicBezTo>
                  <a:lnTo>
                    <a:pt x="10699115" y="177800"/>
                  </a:lnTo>
                  <a:lnTo>
                    <a:pt x="10718165" y="177800"/>
                  </a:lnTo>
                  <a:lnTo>
                    <a:pt x="10718165" y="3536950"/>
                  </a:lnTo>
                  <a:lnTo>
                    <a:pt x="10699115" y="3536950"/>
                  </a:lnTo>
                  <a:lnTo>
                    <a:pt x="10718165" y="3536950"/>
                  </a:lnTo>
                  <a:cubicBezTo>
                    <a:pt x="10718165" y="3635248"/>
                    <a:pt x="10637901" y="3714750"/>
                    <a:pt x="10539222" y="3714750"/>
                  </a:cubicBezTo>
                  <a:lnTo>
                    <a:pt x="10539222" y="3695700"/>
                  </a:lnTo>
                  <a:lnTo>
                    <a:pt x="10539222" y="3714750"/>
                  </a:lnTo>
                  <a:lnTo>
                    <a:pt x="178943" y="3714750"/>
                  </a:lnTo>
                  <a:lnTo>
                    <a:pt x="178943" y="3695700"/>
                  </a:lnTo>
                  <a:lnTo>
                    <a:pt x="178943" y="3714750"/>
                  </a:lnTo>
                  <a:cubicBezTo>
                    <a:pt x="80264" y="3714750"/>
                    <a:pt x="0" y="3635248"/>
                    <a:pt x="0" y="3536950"/>
                  </a:cubicBezTo>
                  <a:lnTo>
                    <a:pt x="0" y="177800"/>
                  </a:lnTo>
                  <a:lnTo>
                    <a:pt x="19050" y="177800"/>
                  </a:lnTo>
                  <a:lnTo>
                    <a:pt x="0" y="177800"/>
                  </a:lnTo>
                  <a:moveTo>
                    <a:pt x="38100" y="177800"/>
                  </a:moveTo>
                  <a:lnTo>
                    <a:pt x="38100" y="3536950"/>
                  </a:lnTo>
                  <a:lnTo>
                    <a:pt x="19050" y="3536950"/>
                  </a:lnTo>
                  <a:lnTo>
                    <a:pt x="38100" y="3536950"/>
                  </a:lnTo>
                  <a:cubicBezTo>
                    <a:pt x="38100" y="3614039"/>
                    <a:pt x="100965" y="3676650"/>
                    <a:pt x="178943" y="3676650"/>
                  </a:cubicBezTo>
                  <a:lnTo>
                    <a:pt x="10539222" y="3676650"/>
                  </a:lnTo>
                  <a:cubicBezTo>
                    <a:pt x="10617073" y="3676650"/>
                    <a:pt x="10680065" y="3613912"/>
                    <a:pt x="10680065" y="3536950"/>
                  </a:cubicBezTo>
                  <a:lnTo>
                    <a:pt x="10680065" y="177800"/>
                  </a:lnTo>
                  <a:cubicBezTo>
                    <a:pt x="10680065" y="100711"/>
                    <a:pt x="10617200" y="38100"/>
                    <a:pt x="10539222" y="38100"/>
                  </a:cubicBezTo>
                  <a:lnTo>
                    <a:pt x="178943" y="38100"/>
                  </a:lnTo>
                  <a:lnTo>
                    <a:pt x="178943" y="19050"/>
                  </a:lnTo>
                  <a:lnTo>
                    <a:pt x="178943" y="38100"/>
                  </a:lnTo>
                  <a:cubicBezTo>
                    <a:pt x="100965" y="38100"/>
                    <a:pt x="38100" y="100838"/>
                    <a:pt x="38100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97781" y="3300565"/>
            <a:ext cx="850554" cy="850554"/>
            <a:chOff x="0" y="0"/>
            <a:chExt cx="1134072" cy="11340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9831734" y="3534518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2195" b="-12195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0" name="TextBox 20"/>
          <p:cNvSpPr txBox="1"/>
          <p:nvPr/>
        </p:nvSpPr>
        <p:spPr>
          <a:xfrm>
            <a:off x="9597781" y="4377480"/>
            <a:ext cx="4375995" cy="51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Gerar Leads Qualificados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97781" y="5027266"/>
            <a:ext cx="7385895" cy="40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5.000 leads via campanhas digitais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77951" y="6015190"/>
            <a:ext cx="8038509" cy="2786062"/>
            <a:chOff x="0" y="0"/>
            <a:chExt cx="10718013" cy="3714750"/>
          </a:xfrm>
        </p:grpSpPr>
        <p:sp>
          <p:nvSpPr>
            <p:cNvPr id="23" name="Freeform 23"/>
            <p:cNvSpPr/>
            <p:nvPr/>
          </p:nvSpPr>
          <p:spPr>
            <a:xfrm>
              <a:off x="19050" y="19050"/>
              <a:ext cx="10679938" cy="3676650"/>
            </a:xfrm>
            <a:custGeom>
              <a:avLst/>
              <a:gdLst/>
              <a:ahLst/>
              <a:cxnLst/>
              <a:rect l="l" t="t" r="r" b="b"/>
              <a:pathLst>
                <a:path w="10679938" h="3676650">
                  <a:moveTo>
                    <a:pt x="0" y="158750"/>
                  </a:moveTo>
                  <a:cubicBezTo>
                    <a:pt x="0" y="71120"/>
                    <a:pt x="71628" y="0"/>
                    <a:pt x="159893" y="0"/>
                  </a:cubicBezTo>
                  <a:lnTo>
                    <a:pt x="10520045" y="0"/>
                  </a:lnTo>
                  <a:cubicBezTo>
                    <a:pt x="10608310" y="0"/>
                    <a:pt x="10679938" y="71120"/>
                    <a:pt x="10679938" y="158750"/>
                  </a:cubicBezTo>
                  <a:lnTo>
                    <a:pt x="10679938" y="3517900"/>
                  </a:lnTo>
                  <a:cubicBezTo>
                    <a:pt x="10679938" y="3605657"/>
                    <a:pt x="10608310" y="3676650"/>
                    <a:pt x="10520045" y="3676650"/>
                  </a:cubicBezTo>
                  <a:lnTo>
                    <a:pt x="159893" y="3676650"/>
                  </a:lnTo>
                  <a:cubicBezTo>
                    <a:pt x="71628" y="3676650"/>
                    <a:pt x="0" y="3605530"/>
                    <a:pt x="0" y="3517900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0"/>
              <a:ext cx="10718038" cy="3714750"/>
            </a:xfrm>
            <a:custGeom>
              <a:avLst/>
              <a:gdLst/>
              <a:ahLst/>
              <a:cxnLst/>
              <a:rect l="l" t="t" r="r" b="b"/>
              <a:pathLst>
                <a:path w="10718038" h="3714750">
                  <a:moveTo>
                    <a:pt x="0" y="177800"/>
                  </a:moveTo>
                  <a:cubicBezTo>
                    <a:pt x="0" y="79502"/>
                    <a:pt x="80264" y="0"/>
                    <a:pt x="178943" y="0"/>
                  </a:cubicBezTo>
                  <a:lnTo>
                    <a:pt x="10539095" y="0"/>
                  </a:lnTo>
                  <a:lnTo>
                    <a:pt x="10539095" y="19050"/>
                  </a:lnTo>
                  <a:lnTo>
                    <a:pt x="10539095" y="0"/>
                  </a:lnTo>
                  <a:cubicBezTo>
                    <a:pt x="10637774" y="0"/>
                    <a:pt x="10718038" y="79502"/>
                    <a:pt x="10718038" y="177800"/>
                  </a:cubicBezTo>
                  <a:lnTo>
                    <a:pt x="10698988" y="177800"/>
                  </a:lnTo>
                  <a:lnTo>
                    <a:pt x="10718038" y="177800"/>
                  </a:lnTo>
                  <a:lnTo>
                    <a:pt x="10718038" y="3536950"/>
                  </a:lnTo>
                  <a:lnTo>
                    <a:pt x="10698988" y="3536950"/>
                  </a:lnTo>
                  <a:lnTo>
                    <a:pt x="10718038" y="3536950"/>
                  </a:lnTo>
                  <a:cubicBezTo>
                    <a:pt x="10718038" y="3635248"/>
                    <a:pt x="10637774" y="3714750"/>
                    <a:pt x="10539095" y="3714750"/>
                  </a:cubicBezTo>
                  <a:lnTo>
                    <a:pt x="10539095" y="3695700"/>
                  </a:lnTo>
                  <a:lnTo>
                    <a:pt x="10539095" y="3714750"/>
                  </a:lnTo>
                  <a:lnTo>
                    <a:pt x="178943" y="3714750"/>
                  </a:lnTo>
                  <a:lnTo>
                    <a:pt x="178943" y="3695700"/>
                  </a:lnTo>
                  <a:lnTo>
                    <a:pt x="178943" y="3714750"/>
                  </a:lnTo>
                  <a:cubicBezTo>
                    <a:pt x="80264" y="3714750"/>
                    <a:pt x="0" y="3635248"/>
                    <a:pt x="0" y="3536950"/>
                  </a:cubicBezTo>
                  <a:lnTo>
                    <a:pt x="0" y="177800"/>
                  </a:lnTo>
                  <a:lnTo>
                    <a:pt x="19050" y="177800"/>
                  </a:lnTo>
                  <a:lnTo>
                    <a:pt x="0" y="177800"/>
                  </a:lnTo>
                  <a:moveTo>
                    <a:pt x="38100" y="177800"/>
                  </a:moveTo>
                  <a:lnTo>
                    <a:pt x="38100" y="3536950"/>
                  </a:lnTo>
                  <a:lnTo>
                    <a:pt x="19050" y="3536950"/>
                  </a:lnTo>
                  <a:lnTo>
                    <a:pt x="38100" y="3536950"/>
                  </a:lnTo>
                  <a:cubicBezTo>
                    <a:pt x="38100" y="3614039"/>
                    <a:pt x="100965" y="3676650"/>
                    <a:pt x="178943" y="3676650"/>
                  </a:cubicBezTo>
                  <a:lnTo>
                    <a:pt x="10539095" y="3676650"/>
                  </a:lnTo>
                  <a:cubicBezTo>
                    <a:pt x="10616946" y="3676650"/>
                    <a:pt x="10679938" y="3613912"/>
                    <a:pt x="10679938" y="3536950"/>
                  </a:cubicBezTo>
                  <a:lnTo>
                    <a:pt x="10679938" y="177800"/>
                  </a:lnTo>
                  <a:cubicBezTo>
                    <a:pt x="10679938" y="100711"/>
                    <a:pt x="10617073" y="38100"/>
                    <a:pt x="10539095" y="38100"/>
                  </a:cubicBezTo>
                  <a:lnTo>
                    <a:pt x="178943" y="38100"/>
                  </a:lnTo>
                  <a:lnTo>
                    <a:pt x="178943" y="19050"/>
                  </a:lnTo>
                  <a:lnTo>
                    <a:pt x="178943" y="38100"/>
                  </a:lnTo>
                  <a:cubicBezTo>
                    <a:pt x="100965" y="38100"/>
                    <a:pt x="38100" y="100838"/>
                    <a:pt x="38100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04334" y="6341564"/>
            <a:ext cx="850554" cy="850554"/>
            <a:chOff x="0" y="0"/>
            <a:chExt cx="1134072" cy="11340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7" name="Freeform 27" descr="preencoded.png"/>
          <p:cNvSpPr/>
          <p:nvPr/>
        </p:nvSpPr>
        <p:spPr>
          <a:xfrm>
            <a:off x="1538288" y="6575527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074" r="-17071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8" name="TextBox 28"/>
          <p:cNvSpPr txBox="1"/>
          <p:nvPr/>
        </p:nvSpPr>
        <p:spPr>
          <a:xfrm>
            <a:off x="1304334" y="7418489"/>
            <a:ext cx="3815658" cy="51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Estabelecer Parcerias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04334" y="8068266"/>
            <a:ext cx="7385742" cy="40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Com 20 lojas de bicicletas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271397" y="6015190"/>
            <a:ext cx="8038652" cy="2786062"/>
            <a:chOff x="0" y="0"/>
            <a:chExt cx="10718203" cy="3714750"/>
          </a:xfrm>
        </p:grpSpPr>
        <p:sp>
          <p:nvSpPr>
            <p:cNvPr id="31" name="Freeform 31"/>
            <p:cNvSpPr/>
            <p:nvPr/>
          </p:nvSpPr>
          <p:spPr>
            <a:xfrm>
              <a:off x="19050" y="19050"/>
              <a:ext cx="10680065" cy="3676650"/>
            </a:xfrm>
            <a:custGeom>
              <a:avLst/>
              <a:gdLst/>
              <a:ahLst/>
              <a:cxnLst/>
              <a:rect l="l" t="t" r="r" b="b"/>
              <a:pathLst>
                <a:path w="10680065" h="3676650">
                  <a:moveTo>
                    <a:pt x="0" y="158750"/>
                  </a:moveTo>
                  <a:cubicBezTo>
                    <a:pt x="0" y="71120"/>
                    <a:pt x="71628" y="0"/>
                    <a:pt x="159893" y="0"/>
                  </a:cubicBezTo>
                  <a:lnTo>
                    <a:pt x="10520172" y="0"/>
                  </a:lnTo>
                  <a:cubicBezTo>
                    <a:pt x="10608437" y="0"/>
                    <a:pt x="10680065" y="71120"/>
                    <a:pt x="10680065" y="158750"/>
                  </a:cubicBezTo>
                  <a:lnTo>
                    <a:pt x="10680065" y="3517900"/>
                  </a:lnTo>
                  <a:cubicBezTo>
                    <a:pt x="10680065" y="3605657"/>
                    <a:pt x="10608437" y="3676650"/>
                    <a:pt x="10520172" y="3676650"/>
                  </a:cubicBezTo>
                  <a:lnTo>
                    <a:pt x="159893" y="3676650"/>
                  </a:lnTo>
                  <a:cubicBezTo>
                    <a:pt x="71628" y="3676650"/>
                    <a:pt x="0" y="3605530"/>
                    <a:pt x="0" y="3517900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10718165" cy="3714750"/>
            </a:xfrm>
            <a:custGeom>
              <a:avLst/>
              <a:gdLst/>
              <a:ahLst/>
              <a:cxnLst/>
              <a:rect l="l" t="t" r="r" b="b"/>
              <a:pathLst>
                <a:path w="10718165" h="3714750">
                  <a:moveTo>
                    <a:pt x="0" y="177800"/>
                  </a:moveTo>
                  <a:cubicBezTo>
                    <a:pt x="0" y="79502"/>
                    <a:pt x="80264" y="0"/>
                    <a:pt x="178943" y="0"/>
                  </a:cubicBezTo>
                  <a:lnTo>
                    <a:pt x="10539222" y="0"/>
                  </a:lnTo>
                  <a:lnTo>
                    <a:pt x="10539222" y="19050"/>
                  </a:lnTo>
                  <a:lnTo>
                    <a:pt x="10539222" y="0"/>
                  </a:lnTo>
                  <a:cubicBezTo>
                    <a:pt x="10637901" y="0"/>
                    <a:pt x="10718165" y="79502"/>
                    <a:pt x="10718165" y="177800"/>
                  </a:cubicBezTo>
                  <a:lnTo>
                    <a:pt x="10699115" y="177800"/>
                  </a:lnTo>
                  <a:lnTo>
                    <a:pt x="10718165" y="177800"/>
                  </a:lnTo>
                  <a:lnTo>
                    <a:pt x="10718165" y="3536950"/>
                  </a:lnTo>
                  <a:lnTo>
                    <a:pt x="10699115" y="3536950"/>
                  </a:lnTo>
                  <a:lnTo>
                    <a:pt x="10718165" y="3536950"/>
                  </a:lnTo>
                  <a:cubicBezTo>
                    <a:pt x="10718165" y="3635248"/>
                    <a:pt x="10637901" y="3714750"/>
                    <a:pt x="10539222" y="3714750"/>
                  </a:cubicBezTo>
                  <a:lnTo>
                    <a:pt x="10539222" y="3695700"/>
                  </a:lnTo>
                  <a:lnTo>
                    <a:pt x="10539222" y="3714750"/>
                  </a:lnTo>
                  <a:lnTo>
                    <a:pt x="178943" y="3714750"/>
                  </a:lnTo>
                  <a:lnTo>
                    <a:pt x="178943" y="3695700"/>
                  </a:lnTo>
                  <a:lnTo>
                    <a:pt x="178943" y="3714750"/>
                  </a:lnTo>
                  <a:cubicBezTo>
                    <a:pt x="80264" y="3714750"/>
                    <a:pt x="0" y="3635248"/>
                    <a:pt x="0" y="3536950"/>
                  </a:cubicBezTo>
                  <a:lnTo>
                    <a:pt x="0" y="177800"/>
                  </a:lnTo>
                  <a:lnTo>
                    <a:pt x="19050" y="177800"/>
                  </a:lnTo>
                  <a:lnTo>
                    <a:pt x="0" y="177800"/>
                  </a:lnTo>
                  <a:moveTo>
                    <a:pt x="38100" y="177800"/>
                  </a:moveTo>
                  <a:lnTo>
                    <a:pt x="38100" y="3536950"/>
                  </a:lnTo>
                  <a:lnTo>
                    <a:pt x="19050" y="3536950"/>
                  </a:lnTo>
                  <a:lnTo>
                    <a:pt x="38100" y="3536950"/>
                  </a:lnTo>
                  <a:cubicBezTo>
                    <a:pt x="38100" y="3614039"/>
                    <a:pt x="100965" y="3676650"/>
                    <a:pt x="178943" y="3676650"/>
                  </a:cubicBezTo>
                  <a:lnTo>
                    <a:pt x="10539222" y="3676650"/>
                  </a:lnTo>
                  <a:cubicBezTo>
                    <a:pt x="10617073" y="3676650"/>
                    <a:pt x="10680065" y="3613912"/>
                    <a:pt x="10680065" y="3536950"/>
                  </a:cubicBezTo>
                  <a:lnTo>
                    <a:pt x="10680065" y="177800"/>
                  </a:lnTo>
                  <a:cubicBezTo>
                    <a:pt x="10680065" y="100711"/>
                    <a:pt x="10617200" y="38100"/>
                    <a:pt x="10539222" y="38100"/>
                  </a:cubicBezTo>
                  <a:lnTo>
                    <a:pt x="178943" y="38100"/>
                  </a:lnTo>
                  <a:lnTo>
                    <a:pt x="178943" y="19050"/>
                  </a:lnTo>
                  <a:lnTo>
                    <a:pt x="178943" y="38100"/>
                  </a:lnTo>
                  <a:cubicBezTo>
                    <a:pt x="100965" y="38100"/>
                    <a:pt x="38100" y="100838"/>
                    <a:pt x="38100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597781" y="6341564"/>
            <a:ext cx="850554" cy="850554"/>
            <a:chOff x="0" y="0"/>
            <a:chExt cx="1134072" cy="11340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35" name="Freeform 35" descr="preencoded.png"/>
          <p:cNvSpPr/>
          <p:nvPr/>
        </p:nvSpPr>
        <p:spPr>
          <a:xfrm>
            <a:off x="9831734" y="6575527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879" r="-4876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6" name="TextBox 36"/>
          <p:cNvSpPr txBox="1"/>
          <p:nvPr/>
        </p:nvSpPr>
        <p:spPr>
          <a:xfrm>
            <a:off x="9597781" y="7418489"/>
            <a:ext cx="4289527" cy="51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Aumentar Vendas Online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597781" y="8068266"/>
            <a:ext cx="7385895" cy="40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Em 30% no primeiro ano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2238" y="1045816"/>
            <a:ext cx="11162405" cy="1007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0"/>
              </a:lnSpc>
            </a:pPr>
            <a:r>
              <a:rPr lang="en-US" sz="5562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Estratégias de Marketing Digital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77951" y="2605678"/>
            <a:ext cx="5274021" cy="3523059"/>
            <a:chOff x="0" y="0"/>
            <a:chExt cx="7032028" cy="4697412"/>
          </a:xfrm>
        </p:grpSpPr>
        <p:sp>
          <p:nvSpPr>
            <p:cNvPr id="7" name="Freeform 7"/>
            <p:cNvSpPr/>
            <p:nvPr/>
          </p:nvSpPr>
          <p:spPr>
            <a:xfrm>
              <a:off x="19050" y="19050"/>
              <a:ext cx="6994017" cy="4659249"/>
            </a:xfrm>
            <a:custGeom>
              <a:avLst/>
              <a:gdLst/>
              <a:ahLst/>
              <a:cxnLst/>
              <a:rect l="l" t="t" r="r" b="b"/>
              <a:pathLst>
                <a:path w="6994017" h="4659249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6834759" y="0"/>
                  </a:lnTo>
                  <a:cubicBezTo>
                    <a:pt x="6922643" y="0"/>
                    <a:pt x="6994017" y="71120"/>
                    <a:pt x="6994017" y="158750"/>
                  </a:cubicBezTo>
                  <a:lnTo>
                    <a:pt x="6994017" y="4500499"/>
                  </a:lnTo>
                  <a:cubicBezTo>
                    <a:pt x="6994017" y="4588256"/>
                    <a:pt x="6922770" y="4659249"/>
                    <a:pt x="6834759" y="4659249"/>
                  </a:cubicBezTo>
                  <a:lnTo>
                    <a:pt x="159258" y="4659249"/>
                  </a:lnTo>
                  <a:cubicBezTo>
                    <a:pt x="71374" y="4659249"/>
                    <a:pt x="0" y="4588129"/>
                    <a:pt x="0" y="4500499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7032117" cy="4697349"/>
            </a:xfrm>
            <a:custGeom>
              <a:avLst/>
              <a:gdLst/>
              <a:ahLst/>
              <a:cxnLst/>
              <a:rect l="l" t="t" r="r" b="b"/>
              <a:pathLst>
                <a:path w="7032117" h="4697349">
                  <a:moveTo>
                    <a:pt x="0" y="177800"/>
                  </a:moveTo>
                  <a:cubicBezTo>
                    <a:pt x="0" y="79629"/>
                    <a:pt x="79883" y="0"/>
                    <a:pt x="178308" y="0"/>
                  </a:cubicBezTo>
                  <a:lnTo>
                    <a:pt x="6853809" y="0"/>
                  </a:lnTo>
                  <a:lnTo>
                    <a:pt x="6853809" y="19050"/>
                  </a:lnTo>
                  <a:lnTo>
                    <a:pt x="6853809" y="0"/>
                  </a:lnTo>
                  <a:cubicBezTo>
                    <a:pt x="6952234" y="0"/>
                    <a:pt x="7032117" y="79629"/>
                    <a:pt x="7032117" y="177800"/>
                  </a:cubicBezTo>
                  <a:lnTo>
                    <a:pt x="7013067" y="177800"/>
                  </a:lnTo>
                  <a:lnTo>
                    <a:pt x="7032117" y="177800"/>
                  </a:lnTo>
                  <a:lnTo>
                    <a:pt x="7032117" y="4519549"/>
                  </a:lnTo>
                  <a:lnTo>
                    <a:pt x="7013067" y="4519549"/>
                  </a:lnTo>
                  <a:lnTo>
                    <a:pt x="7032117" y="4519549"/>
                  </a:lnTo>
                  <a:cubicBezTo>
                    <a:pt x="7032117" y="4617847"/>
                    <a:pt x="6952234" y="4697349"/>
                    <a:pt x="6853809" y="4697349"/>
                  </a:cubicBezTo>
                  <a:lnTo>
                    <a:pt x="6853809" y="4678299"/>
                  </a:lnTo>
                  <a:lnTo>
                    <a:pt x="6853809" y="4697349"/>
                  </a:lnTo>
                  <a:lnTo>
                    <a:pt x="178308" y="4697349"/>
                  </a:lnTo>
                  <a:lnTo>
                    <a:pt x="178308" y="4678299"/>
                  </a:lnTo>
                  <a:lnTo>
                    <a:pt x="178308" y="4697349"/>
                  </a:lnTo>
                  <a:cubicBezTo>
                    <a:pt x="79883" y="4697349"/>
                    <a:pt x="0" y="4617720"/>
                    <a:pt x="0" y="4519549"/>
                  </a:cubicBezTo>
                  <a:lnTo>
                    <a:pt x="0" y="177800"/>
                  </a:lnTo>
                  <a:lnTo>
                    <a:pt x="19050" y="177800"/>
                  </a:lnTo>
                  <a:lnTo>
                    <a:pt x="0" y="177800"/>
                  </a:lnTo>
                  <a:moveTo>
                    <a:pt x="38100" y="177800"/>
                  </a:moveTo>
                  <a:lnTo>
                    <a:pt x="38100" y="4519549"/>
                  </a:lnTo>
                  <a:lnTo>
                    <a:pt x="19050" y="4519549"/>
                  </a:lnTo>
                  <a:lnTo>
                    <a:pt x="38100" y="4519549"/>
                  </a:lnTo>
                  <a:cubicBezTo>
                    <a:pt x="38100" y="4596638"/>
                    <a:pt x="100838" y="4659249"/>
                    <a:pt x="178308" y="4659249"/>
                  </a:cubicBezTo>
                  <a:lnTo>
                    <a:pt x="6853809" y="4659249"/>
                  </a:lnTo>
                  <a:cubicBezTo>
                    <a:pt x="6931278" y="4659249"/>
                    <a:pt x="6994017" y="4596638"/>
                    <a:pt x="6994017" y="4519549"/>
                  </a:cubicBezTo>
                  <a:lnTo>
                    <a:pt x="6994017" y="177800"/>
                  </a:lnTo>
                  <a:cubicBezTo>
                    <a:pt x="6994017" y="100711"/>
                    <a:pt x="6931278" y="38100"/>
                    <a:pt x="6853809" y="38100"/>
                  </a:cubicBezTo>
                  <a:lnTo>
                    <a:pt x="178308" y="38100"/>
                  </a:lnTo>
                  <a:lnTo>
                    <a:pt x="178308" y="19050"/>
                  </a:lnTo>
                  <a:lnTo>
                    <a:pt x="178308" y="38100"/>
                  </a:lnTo>
                  <a:cubicBezTo>
                    <a:pt x="100838" y="38100"/>
                    <a:pt x="38100" y="100711"/>
                    <a:pt x="38100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04334" y="2932062"/>
            <a:ext cx="850554" cy="850554"/>
            <a:chOff x="0" y="0"/>
            <a:chExt cx="1134072" cy="11340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1538288" y="3166024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925" r="-32928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2" name="TextBox 12"/>
          <p:cNvSpPr txBox="1"/>
          <p:nvPr/>
        </p:nvSpPr>
        <p:spPr>
          <a:xfrm>
            <a:off x="1304334" y="4008987"/>
            <a:ext cx="3544043" cy="51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SEO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4334" y="4658763"/>
            <a:ext cx="4621263" cy="77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Conteúdo sobre segurança no ciclismo e travões inteligentes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06918" y="2605678"/>
            <a:ext cx="5274021" cy="3523059"/>
            <a:chOff x="0" y="0"/>
            <a:chExt cx="7032028" cy="4697412"/>
          </a:xfrm>
        </p:grpSpPr>
        <p:sp>
          <p:nvSpPr>
            <p:cNvPr id="15" name="Freeform 15"/>
            <p:cNvSpPr/>
            <p:nvPr/>
          </p:nvSpPr>
          <p:spPr>
            <a:xfrm>
              <a:off x="19050" y="19050"/>
              <a:ext cx="6994017" cy="4659249"/>
            </a:xfrm>
            <a:custGeom>
              <a:avLst/>
              <a:gdLst/>
              <a:ahLst/>
              <a:cxnLst/>
              <a:rect l="l" t="t" r="r" b="b"/>
              <a:pathLst>
                <a:path w="6994017" h="4659249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6834759" y="0"/>
                  </a:lnTo>
                  <a:cubicBezTo>
                    <a:pt x="6922643" y="0"/>
                    <a:pt x="6994017" y="71120"/>
                    <a:pt x="6994017" y="158750"/>
                  </a:cubicBezTo>
                  <a:lnTo>
                    <a:pt x="6994017" y="4500499"/>
                  </a:lnTo>
                  <a:cubicBezTo>
                    <a:pt x="6994017" y="4588256"/>
                    <a:pt x="6922770" y="4659249"/>
                    <a:pt x="6834759" y="4659249"/>
                  </a:cubicBezTo>
                  <a:lnTo>
                    <a:pt x="159258" y="4659249"/>
                  </a:lnTo>
                  <a:cubicBezTo>
                    <a:pt x="71374" y="4659249"/>
                    <a:pt x="0" y="4588129"/>
                    <a:pt x="0" y="4500499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7032117" cy="4697349"/>
            </a:xfrm>
            <a:custGeom>
              <a:avLst/>
              <a:gdLst/>
              <a:ahLst/>
              <a:cxnLst/>
              <a:rect l="l" t="t" r="r" b="b"/>
              <a:pathLst>
                <a:path w="7032117" h="4697349">
                  <a:moveTo>
                    <a:pt x="0" y="177800"/>
                  </a:moveTo>
                  <a:cubicBezTo>
                    <a:pt x="0" y="79629"/>
                    <a:pt x="79883" y="0"/>
                    <a:pt x="178308" y="0"/>
                  </a:cubicBezTo>
                  <a:lnTo>
                    <a:pt x="6853809" y="0"/>
                  </a:lnTo>
                  <a:lnTo>
                    <a:pt x="6853809" y="19050"/>
                  </a:lnTo>
                  <a:lnTo>
                    <a:pt x="6853809" y="0"/>
                  </a:lnTo>
                  <a:cubicBezTo>
                    <a:pt x="6952234" y="0"/>
                    <a:pt x="7032117" y="79629"/>
                    <a:pt x="7032117" y="177800"/>
                  </a:cubicBezTo>
                  <a:lnTo>
                    <a:pt x="7013067" y="177800"/>
                  </a:lnTo>
                  <a:lnTo>
                    <a:pt x="7032117" y="177800"/>
                  </a:lnTo>
                  <a:lnTo>
                    <a:pt x="7032117" y="4519549"/>
                  </a:lnTo>
                  <a:lnTo>
                    <a:pt x="7013067" y="4519549"/>
                  </a:lnTo>
                  <a:lnTo>
                    <a:pt x="7032117" y="4519549"/>
                  </a:lnTo>
                  <a:cubicBezTo>
                    <a:pt x="7032117" y="4617847"/>
                    <a:pt x="6952234" y="4697349"/>
                    <a:pt x="6853809" y="4697349"/>
                  </a:cubicBezTo>
                  <a:lnTo>
                    <a:pt x="6853809" y="4678299"/>
                  </a:lnTo>
                  <a:lnTo>
                    <a:pt x="6853809" y="4697349"/>
                  </a:lnTo>
                  <a:lnTo>
                    <a:pt x="178308" y="4697349"/>
                  </a:lnTo>
                  <a:lnTo>
                    <a:pt x="178308" y="4678299"/>
                  </a:lnTo>
                  <a:lnTo>
                    <a:pt x="178308" y="4697349"/>
                  </a:lnTo>
                  <a:cubicBezTo>
                    <a:pt x="79883" y="4697349"/>
                    <a:pt x="0" y="4617720"/>
                    <a:pt x="0" y="4519549"/>
                  </a:cubicBezTo>
                  <a:lnTo>
                    <a:pt x="0" y="177800"/>
                  </a:lnTo>
                  <a:lnTo>
                    <a:pt x="19050" y="177800"/>
                  </a:lnTo>
                  <a:lnTo>
                    <a:pt x="0" y="177800"/>
                  </a:lnTo>
                  <a:moveTo>
                    <a:pt x="38100" y="177800"/>
                  </a:moveTo>
                  <a:lnTo>
                    <a:pt x="38100" y="4519549"/>
                  </a:lnTo>
                  <a:lnTo>
                    <a:pt x="19050" y="4519549"/>
                  </a:lnTo>
                  <a:lnTo>
                    <a:pt x="38100" y="4519549"/>
                  </a:lnTo>
                  <a:cubicBezTo>
                    <a:pt x="38100" y="4596638"/>
                    <a:pt x="100838" y="4659249"/>
                    <a:pt x="178308" y="4659249"/>
                  </a:cubicBezTo>
                  <a:lnTo>
                    <a:pt x="6853809" y="4659249"/>
                  </a:lnTo>
                  <a:cubicBezTo>
                    <a:pt x="6931278" y="4659249"/>
                    <a:pt x="6994017" y="4596638"/>
                    <a:pt x="6994017" y="4519549"/>
                  </a:cubicBezTo>
                  <a:lnTo>
                    <a:pt x="6994017" y="177800"/>
                  </a:lnTo>
                  <a:cubicBezTo>
                    <a:pt x="6994017" y="100711"/>
                    <a:pt x="6931278" y="38100"/>
                    <a:pt x="6853809" y="38100"/>
                  </a:cubicBezTo>
                  <a:lnTo>
                    <a:pt x="178308" y="38100"/>
                  </a:lnTo>
                  <a:lnTo>
                    <a:pt x="178308" y="19050"/>
                  </a:lnTo>
                  <a:lnTo>
                    <a:pt x="178308" y="38100"/>
                  </a:lnTo>
                  <a:cubicBezTo>
                    <a:pt x="100838" y="38100"/>
                    <a:pt x="38100" y="100711"/>
                    <a:pt x="38100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33292" y="2932062"/>
            <a:ext cx="850554" cy="850554"/>
            <a:chOff x="0" y="0"/>
            <a:chExt cx="1134072" cy="11340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7067255" y="3166024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19" r="-1219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0" name="TextBox 20"/>
          <p:cNvSpPr txBox="1"/>
          <p:nvPr/>
        </p:nvSpPr>
        <p:spPr>
          <a:xfrm>
            <a:off x="6833292" y="4008987"/>
            <a:ext cx="3544043" cy="51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Redes Sociais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33292" y="4658763"/>
            <a:ext cx="4621263" cy="1143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Demonstrações, reviews e educação sobre prevenção de acidentes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035876" y="2605678"/>
            <a:ext cx="5274021" cy="3523059"/>
            <a:chOff x="0" y="0"/>
            <a:chExt cx="7032028" cy="4697412"/>
          </a:xfrm>
        </p:grpSpPr>
        <p:sp>
          <p:nvSpPr>
            <p:cNvPr id="23" name="Freeform 23"/>
            <p:cNvSpPr/>
            <p:nvPr/>
          </p:nvSpPr>
          <p:spPr>
            <a:xfrm>
              <a:off x="19050" y="19050"/>
              <a:ext cx="6994017" cy="4659249"/>
            </a:xfrm>
            <a:custGeom>
              <a:avLst/>
              <a:gdLst/>
              <a:ahLst/>
              <a:cxnLst/>
              <a:rect l="l" t="t" r="r" b="b"/>
              <a:pathLst>
                <a:path w="6994017" h="4659249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6834759" y="0"/>
                  </a:lnTo>
                  <a:cubicBezTo>
                    <a:pt x="6922643" y="0"/>
                    <a:pt x="6994017" y="71120"/>
                    <a:pt x="6994017" y="158750"/>
                  </a:cubicBezTo>
                  <a:lnTo>
                    <a:pt x="6994017" y="4500499"/>
                  </a:lnTo>
                  <a:cubicBezTo>
                    <a:pt x="6994017" y="4588256"/>
                    <a:pt x="6922770" y="4659249"/>
                    <a:pt x="6834759" y="4659249"/>
                  </a:cubicBezTo>
                  <a:lnTo>
                    <a:pt x="159258" y="4659249"/>
                  </a:lnTo>
                  <a:cubicBezTo>
                    <a:pt x="71374" y="4659249"/>
                    <a:pt x="0" y="4588129"/>
                    <a:pt x="0" y="4500499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0"/>
              <a:ext cx="7032117" cy="4697349"/>
            </a:xfrm>
            <a:custGeom>
              <a:avLst/>
              <a:gdLst/>
              <a:ahLst/>
              <a:cxnLst/>
              <a:rect l="l" t="t" r="r" b="b"/>
              <a:pathLst>
                <a:path w="7032117" h="4697349">
                  <a:moveTo>
                    <a:pt x="0" y="177800"/>
                  </a:moveTo>
                  <a:cubicBezTo>
                    <a:pt x="0" y="79629"/>
                    <a:pt x="79883" y="0"/>
                    <a:pt x="178308" y="0"/>
                  </a:cubicBezTo>
                  <a:lnTo>
                    <a:pt x="6853809" y="0"/>
                  </a:lnTo>
                  <a:lnTo>
                    <a:pt x="6853809" y="19050"/>
                  </a:lnTo>
                  <a:lnTo>
                    <a:pt x="6853809" y="0"/>
                  </a:lnTo>
                  <a:cubicBezTo>
                    <a:pt x="6952234" y="0"/>
                    <a:pt x="7032117" y="79629"/>
                    <a:pt x="7032117" y="177800"/>
                  </a:cubicBezTo>
                  <a:lnTo>
                    <a:pt x="7013067" y="177800"/>
                  </a:lnTo>
                  <a:lnTo>
                    <a:pt x="7032117" y="177800"/>
                  </a:lnTo>
                  <a:lnTo>
                    <a:pt x="7032117" y="4519549"/>
                  </a:lnTo>
                  <a:lnTo>
                    <a:pt x="7013067" y="4519549"/>
                  </a:lnTo>
                  <a:lnTo>
                    <a:pt x="7032117" y="4519549"/>
                  </a:lnTo>
                  <a:cubicBezTo>
                    <a:pt x="7032117" y="4617847"/>
                    <a:pt x="6952234" y="4697349"/>
                    <a:pt x="6853809" y="4697349"/>
                  </a:cubicBezTo>
                  <a:lnTo>
                    <a:pt x="6853809" y="4678299"/>
                  </a:lnTo>
                  <a:lnTo>
                    <a:pt x="6853809" y="4697349"/>
                  </a:lnTo>
                  <a:lnTo>
                    <a:pt x="178308" y="4697349"/>
                  </a:lnTo>
                  <a:lnTo>
                    <a:pt x="178308" y="4678299"/>
                  </a:lnTo>
                  <a:lnTo>
                    <a:pt x="178308" y="4697349"/>
                  </a:lnTo>
                  <a:cubicBezTo>
                    <a:pt x="79883" y="4697349"/>
                    <a:pt x="0" y="4617720"/>
                    <a:pt x="0" y="4519549"/>
                  </a:cubicBezTo>
                  <a:lnTo>
                    <a:pt x="0" y="177800"/>
                  </a:lnTo>
                  <a:lnTo>
                    <a:pt x="19050" y="177800"/>
                  </a:lnTo>
                  <a:lnTo>
                    <a:pt x="0" y="177800"/>
                  </a:lnTo>
                  <a:moveTo>
                    <a:pt x="38100" y="177800"/>
                  </a:moveTo>
                  <a:lnTo>
                    <a:pt x="38100" y="4519549"/>
                  </a:lnTo>
                  <a:lnTo>
                    <a:pt x="19050" y="4519549"/>
                  </a:lnTo>
                  <a:lnTo>
                    <a:pt x="38100" y="4519549"/>
                  </a:lnTo>
                  <a:cubicBezTo>
                    <a:pt x="38100" y="4596638"/>
                    <a:pt x="100838" y="4659249"/>
                    <a:pt x="178308" y="4659249"/>
                  </a:cubicBezTo>
                  <a:lnTo>
                    <a:pt x="6853809" y="4659249"/>
                  </a:lnTo>
                  <a:cubicBezTo>
                    <a:pt x="6931278" y="4659249"/>
                    <a:pt x="6994017" y="4596638"/>
                    <a:pt x="6994017" y="4519549"/>
                  </a:cubicBezTo>
                  <a:lnTo>
                    <a:pt x="6994017" y="177800"/>
                  </a:lnTo>
                  <a:cubicBezTo>
                    <a:pt x="6994017" y="100711"/>
                    <a:pt x="6931278" y="38100"/>
                    <a:pt x="6853809" y="38100"/>
                  </a:cubicBezTo>
                  <a:lnTo>
                    <a:pt x="178308" y="38100"/>
                  </a:lnTo>
                  <a:lnTo>
                    <a:pt x="178308" y="19050"/>
                  </a:lnTo>
                  <a:lnTo>
                    <a:pt x="178308" y="38100"/>
                  </a:lnTo>
                  <a:cubicBezTo>
                    <a:pt x="100838" y="38100"/>
                    <a:pt x="38100" y="100711"/>
                    <a:pt x="38100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362259" y="2932062"/>
            <a:ext cx="850554" cy="850554"/>
            <a:chOff x="0" y="0"/>
            <a:chExt cx="1134072" cy="11340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7" name="Freeform 27" descr="preencoded.png"/>
          <p:cNvSpPr/>
          <p:nvPr/>
        </p:nvSpPr>
        <p:spPr>
          <a:xfrm>
            <a:off x="12596222" y="3166024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28" name="TextBox 28"/>
          <p:cNvSpPr txBox="1"/>
          <p:nvPr/>
        </p:nvSpPr>
        <p:spPr>
          <a:xfrm>
            <a:off x="12362259" y="4008987"/>
            <a:ext cx="3544043" cy="51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ADS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62259" y="4658763"/>
            <a:ext cx="4621263" cy="1143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Campanhas no Google, Instagram, LinkedIn e YouTube focadas em ciclistas urbanos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77951" y="6383684"/>
            <a:ext cx="8038509" cy="2786062"/>
            <a:chOff x="0" y="0"/>
            <a:chExt cx="10718013" cy="3714750"/>
          </a:xfrm>
        </p:grpSpPr>
        <p:sp>
          <p:nvSpPr>
            <p:cNvPr id="31" name="Freeform 31"/>
            <p:cNvSpPr/>
            <p:nvPr/>
          </p:nvSpPr>
          <p:spPr>
            <a:xfrm>
              <a:off x="19050" y="19050"/>
              <a:ext cx="10679938" cy="3676650"/>
            </a:xfrm>
            <a:custGeom>
              <a:avLst/>
              <a:gdLst/>
              <a:ahLst/>
              <a:cxnLst/>
              <a:rect l="l" t="t" r="r" b="b"/>
              <a:pathLst>
                <a:path w="10679938" h="3676650">
                  <a:moveTo>
                    <a:pt x="0" y="158750"/>
                  </a:moveTo>
                  <a:cubicBezTo>
                    <a:pt x="0" y="71120"/>
                    <a:pt x="71628" y="0"/>
                    <a:pt x="159893" y="0"/>
                  </a:cubicBezTo>
                  <a:lnTo>
                    <a:pt x="10520045" y="0"/>
                  </a:lnTo>
                  <a:cubicBezTo>
                    <a:pt x="10608310" y="0"/>
                    <a:pt x="10679938" y="71120"/>
                    <a:pt x="10679938" y="158750"/>
                  </a:cubicBezTo>
                  <a:lnTo>
                    <a:pt x="10679938" y="3517900"/>
                  </a:lnTo>
                  <a:cubicBezTo>
                    <a:pt x="10679938" y="3605657"/>
                    <a:pt x="10608310" y="3676650"/>
                    <a:pt x="10520045" y="3676650"/>
                  </a:cubicBezTo>
                  <a:lnTo>
                    <a:pt x="159893" y="3676650"/>
                  </a:lnTo>
                  <a:cubicBezTo>
                    <a:pt x="71628" y="3676650"/>
                    <a:pt x="0" y="3605530"/>
                    <a:pt x="0" y="3517900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10718038" cy="3714750"/>
            </a:xfrm>
            <a:custGeom>
              <a:avLst/>
              <a:gdLst/>
              <a:ahLst/>
              <a:cxnLst/>
              <a:rect l="l" t="t" r="r" b="b"/>
              <a:pathLst>
                <a:path w="10718038" h="3714750">
                  <a:moveTo>
                    <a:pt x="0" y="177800"/>
                  </a:moveTo>
                  <a:cubicBezTo>
                    <a:pt x="0" y="79502"/>
                    <a:pt x="80264" y="0"/>
                    <a:pt x="178943" y="0"/>
                  </a:cubicBezTo>
                  <a:lnTo>
                    <a:pt x="10539095" y="0"/>
                  </a:lnTo>
                  <a:lnTo>
                    <a:pt x="10539095" y="19050"/>
                  </a:lnTo>
                  <a:lnTo>
                    <a:pt x="10539095" y="0"/>
                  </a:lnTo>
                  <a:cubicBezTo>
                    <a:pt x="10637774" y="0"/>
                    <a:pt x="10718038" y="79502"/>
                    <a:pt x="10718038" y="177800"/>
                  </a:cubicBezTo>
                  <a:lnTo>
                    <a:pt x="10698988" y="177800"/>
                  </a:lnTo>
                  <a:lnTo>
                    <a:pt x="10718038" y="177800"/>
                  </a:lnTo>
                  <a:lnTo>
                    <a:pt x="10718038" y="3536950"/>
                  </a:lnTo>
                  <a:lnTo>
                    <a:pt x="10698988" y="3536950"/>
                  </a:lnTo>
                  <a:lnTo>
                    <a:pt x="10718038" y="3536950"/>
                  </a:lnTo>
                  <a:cubicBezTo>
                    <a:pt x="10718038" y="3635248"/>
                    <a:pt x="10637774" y="3714750"/>
                    <a:pt x="10539095" y="3714750"/>
                  </a:cubicBezTo>
                  <a:lnTo>
                    <a:pt x="10539095" y="3695700"/>
                  </a:lnTo>
                  <a:lnTo>
                    <a:pt x="10539095" y="3714750"/>
                  </a:lnTo>
                  <a:lnTo>
                    <a:pt x="178943" y="3714750"/>
                  </a:lnTo>
                  <a:lnTo>
                    <a:pt x="178943" y="3695700"/>
                  </a:lnTo>
                  <a:lnTo>
                    <a:pt x="178943" y="3714750"/>
                  </a:lnTo>
                  <a:cubicBezTo>
                    <a:pt x="80264" y="3714750"/>
                    <a:pt x="0" y="3635248"/>
                    <a:pt x="0" y="3536950"/>
                  </a:cubicBezTo>
                  <a:lnTo>
                    <a:pt x="0" y="177800"/>
                  </a:lnTo>
                  <a:lnTo>
                    <a:pt x="19050" y="177800"/>
                  </a:lnTo>
                  <a:lnTo>
                    <a:pt x="0" y="177800"/>
                  </a:lnTo>
                  <a:moveTo>
                    <a:pt x="38100" y="177800"/>
                  </a:moveTo>
                  <a:lnTo>
                    <a:pt x="38100" y="3536950"/>
                  </a:lnTo>
                  <a:lnTo>
                    <a:pt x="19050" y="3536950"/>
                  </a:lnTo>
                  <a:lnTo>
                    <a:pt x="38100" y="3536950"/>
                  </a:lnTo>
                  <a:cubicBezTo>
                    <a:pt x="38100" y="3614039"/>
                    <a:pt x="100965" y="3676650"/>
                    <a:pt x="178943" y="3676650"/>
                  </a:cubicBezTo>
                  <a:lnTo>
                    <a:pt x="10539095" y="3676650"/>
                  </a:lnTo>
                  <a:cubicBezTo>
                    <a:pt x="10616946" y="3676650"/>
                    <a:pt x="10679938" y="3613912"/>
                    <a:pt x="10679938" y="3536950"/>
                  </a:cubicBezTo>
                  <a:lnTo>
                    <a:pt x="10679938" y="177800"/>
                  </a:lnTo>
                  <a:cubicBezTo>
                    <a:pt x="10679938" y="100711"/>
                    <a:pt x="10617073" y="38100"/>
                    <a:pt x="10539095" y="38100"/>
                  </a:cubicBezTo>
                  <a:lnTo>
                    <a:pt x="178943" y="38100"/>
                  </a:lnTo>
                  <a:lnTo>
                    <a:pt x="178943" y="19050"/>
                  </a:lnTo>
                  <a:lnTo>
                    <a:pt x="178943" y="38100"/>
                  </a:lnTo>
                  <a:cubicBezTo>
                    <a:pt x="100965" y="38100"/>
                    <a:pt x="38100" y="100838"/>
                    <a:pt x="38100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04334" y="6710067"/>
            <a:ext cx="850554" cy="850554"/>
            <a:chOff x="0" y="0"/>
            <a:chExt cx="1134072" cy="11340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35" name="Freeform 35" descr="preencoded.png"/>
          <p:cNvSpPr/>
          <p:nvPr/>
        </p:nvSpPr>
        <p:spPr>
          <a:xfrm>
            <a:off x="1538288" y="6944020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9511" r="-19513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6" name="TextBox 36"/>
          <p:cNvSpPr txBox="1"/>
          <p:nvPr/>
        </p:nvSpPr>
        <p:spPr>
          <a:xfrm>
            <a:off x="1304334" y="7786983"/>
            <a:ext cx="3544043" cy="51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E-mail Marketing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04334" y="8436769"/>
            <a:ext cx="7385742" cy="40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Comparativos, estudos de caso e ofertas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271397" y="6383684"/>
            <a:ext cx="8038509" cy="2786062"/>
            <a:chOff x="0" y="0"/>
            <a:chExt cx="10718013" cy="3714750"/>
          </a:xfrm>
        </p:grpSpPr>
        <p:sp>
          <p:nvSpPr>
            <p:cNvPr id="39" name="Freeform 39"/>
            <p:cNvSpPr/>
            <p:nvPr/>
          </p:nvSpPr>
          <p:spPr>
            <a:xfrm>
              <a:off x="19050" y="19050"/>
              <a:ext cx="10679938" cy="3676650"/>
            </a:xfrm>
            <a:custGeom>
              <a:avLst/>
              <a:gdLst/>
              <a:ahLst/>
              <a:cxnLst/>
              <a:rect l="l" t="t" r="r" b="b"/>
              <a:pathLst>
                <a:path w="10679938" h="3676650">
                  <a:moveTo>
                    <a:pt x="0" y="158750"/>
                  </a:moveTo>
                  <a:cubicBezTo>
                    <a:pt x="0" y="71120"/>
                    <a:pt x="71628" y="0"/>
                    <a:pt x="159893" y="0"/>
                  </a:cubicBezTo>
                  <a:lnTo>
                    <a:pt x="10520045" y="0"/>
                  </a:lnTo>
                  <a:cubicBezTo>
                    <a:pt x="10608310" y="0"/>
                    <a:pt x="10679938" y="71120"/>
                    <a:pt x="10679938" y="158750"/>
                  </a:cubicBezTo>
                  <a:lnTo>
                    <a:pt x="10679938" y="3517900"/>
                  </a:lnTo>
                  <a:cubicBezTo>
                    <a:pt x="10679938" y="3605657"/>
                    <a:pt x="10608310" y="3676650"/>
                    <a:pt x="10520045" y="3676650"/>
                  </a:cubicBezTo>
                  <a:lnTo>
                    <a:pt x="159893" y="3676650"/>
                  </a:lnTo>
                  <a:cubicBezTo>
                    <a:pt x="71628" y="3676650"/>
                    <a:pt x="0" y="3605530"/>
                    <a:pt x="0" y="3517900"/>
                  </a:cubicBezTo>
                  <a:close/>
                </a:path>
              </a:pathLst>
            </a:custGeom>
            <a:solidFill>
              <a:srgbClr val="101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10718038" cy="3714750"/>
            </a:xfrm>
            <a:custGeom>
              <a:avLst/>
              <a:gdLst/>
              <a:ahLst/>
              <a:cxnLst/>
              <a:rect l="l" t="t" r="r" b="b"/>
              <a:pathLst>
                <a:path w="10718038" h="3714750">
                  <a:moveTo>
                    <a:pt x="0" y="177800"/>
                  </a:moveTo>
                  <a:cubicBezTo>
                    <a:pt x="0" y="79502"/>
                    <a:pt x="80264" y="0"/>
                    <a:pt x="178943" y="0"/>
                  </a:cubicBezTo>
                  <a:lnTo>
                    <a:pt x="10539095" y="0"/>
                  </a:lnTo>
                  <a:lnTo>
                    <a:pt x="10539095" y="19050"/>
                  </a:lnTo>
                  <a:lnTo>
                    <a:pt x="10539095" y="0"/>
                  </a:lnTo>
                  <a:cubicBezTo>
                    <a:pt x="10637774" y="0"/>
                    <a:pt x="10718038" y="79502"/>
                    <a:pt x="10718038" y="177800"/>
                  </a:cubicBezTo>
                  <a:lnTo>
                    <a:pt x="10698988" y="177800"/>
                  </a:lnTo>
                  <a:lnTo>
                    <a:pt x="10718038" y="177800"/>
                  </a:lnTo>
                  <a:lnTo>
                    <a:pt x="10718038" y="3536950"/>
                  </a:lnTo>
                  <a:lnTo>
                    <a:pt x="10698988" y="3536950"/>
                  </a:lnTo>
                  <a:lnTo>
                    <a:pt x="10718038" y="3536950"/>
                  </a:lnTo>
                  <a:cubicBezTo>
                    <a:pt x="10718038" y="3635248"/>
                    <a:pt x="10637774" y="3714750"/>
                    <a:pt x="10539095" y="3714750"/>
                  </a:cubicBezTo>
                  <a:lnTo>
                    <a:pt x="10539095" y="3695700"/>
                  </a:lnTo>
                  <a:lnTo>
                    <a:pt x="10539095" y="3714750"/>
                  </a:lnTo>
                  <a:lnTo>
                    <a:pt x="178943" y="3714750"/>
                  </a:lnTo>
                  <a:lnTo>
                    <a:pt x="178943" y="3695700"/>
                  </a:lnTo>
                  <a:lnTo>
                    <a:pt x="178943" y="3714750"/>
                  </a:lnTo>
                  <a:cubicBezTo>
                    <a:pt x="80264" y="3714750"/>
                    <a:pt x="0" y="3635248"/>
                    <a:pt x="0" y="3536950"/>
                  </a:cubicBezTo>
                  <a:lnTo>
                    <a:pt x="0" y="177800"/>
                  </a:lnTo>
                  <a:lnTo>
                    <a:pt x="19050" y="177800"/>
                  </a:lnTo>
                  <a:lnTo>
                    <a:pt x="0" y="177800"/>
                  </a:lnTo>
                  <a:moveTo>
                    <a:pt x="38100" y="177800"/>
                  </a:moveTo>
                  <a:lnTo>
                    <a:pt x="38100" y="3536950"/>
                  </a:lnTo>
                  <a:lnTo>
                    <a:pt x="19050" y="3536950"/>
                  </a:lnTo>
                  <a:lnTo>
                    <a:pt x="38100" y="3536950"/>
                  </a:lnTo>
                  <a:cubicBezTo>
                    <a:pt x="38100" y="3614039"/>
                    <a:pt x="100965" y="3676650"/>
                    <a:pt x="178943" y="3676650"/>
                  </a:cubicBezTo>
                  <a:lnTo>
                    <a:pt x="10539095" y="3676650"/>
                  </a:lnTo>
                  <a:cubicBezTo>
                    <a:pt x="10616946" y="3676650"/>
                    <a:pt x="10679938" y="3613912"/>
                    <a:pt x="10679938" y="3536950"/>
                  </a:cubicBezTo>
                  <a:lnTo>
                    <a:pt x="10679938" y="177800"/>
                  </a:lnTo>
                  <a:cubicBezTo>
                    <a:pt x="10679938" y="100711"/>
                    <a:pt x="10617073" y="38100"/>
                    <a:pt x="10539095" y="38100"/>
                  </a:cubicBezTo>
                  <a:lnTo>
                    <a:pt x="178943" y="38100"/>
                  </a:lnTo>
                  <a:lnTo>
                    <a:pt x="178943" y="19050"/>
                  </a:lnTo>
                  <a:lnTo>
                    <a:pt x="178943" y="38100"/>
                  </a:lnTo>
                  <a:cubicBezTo>
                    <a:pt x="100965" y="38100"/>
                    <a:pt x="38100" y="100838"/>
                    <a:pt x="38100" y="177800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97781" y="6710067"/>
            <a:ext cx="850554" cy="850554"/>
            <a:chOff x="0" y="0"/>
            <a:chExt cx="1134072" cy="113407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43" name="Freeform 43" descr="preencoded.png"/>
          <p:cNvSpPr/>
          <p:nvPr/>
        </p:nvSpPr>
        <p:spPr>
          <a:xfrm>
            <a:off x="9831734" y="6944020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6098" r="-6096"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44" name="TextBox 44"/>
          <p:cNvSpPr txBox="1"/>
          <p:nvPr/>
        </p:nvSpPr>
        <p:spPr>
          <a:xfrm>
            <a:off x="9597781" y="7786983"/>
            <a:ext cx="3544043" cy="51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750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Influenciadores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97781" y="8436769"/>
            <a:ext cx="7385742" cy="40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Ciclistas para demonstrações reais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1620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2238" y="1382916"/>
            <a:ext cx="9218857" cy="859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4687" b="1">
                <a:solidFill>
                  <a:srgbClr val="F2F5FA"/>
                </a:solidFill>
                <a:latin typeface="Arimo Bold"/>
                <a:ea typeface="Arimo Bold"/>
                <a:cs typeface="Arimo Bold"/>
                <a:sym typeface="Arimo Bold"/>
              </a:rPr>
              <a:t>Cronograma de Implementação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992238" y="2760316"/>
            <a:ext cx="240954" cy="240954"/>
          </a:xfrm>
          <a:custGeom>
            <a:avLst/>
            <a:gdLst/>
            <a:ahLst/>
            <a:cxnLst/>
            <a:rect l="l" t="t" r="r" b="b"/>
            <a:pathLst>
              <a:path w="240954" h="240954">
                <a:moveTo>
                  <a:pt x="0" y="0"/>
                </a:moveTo>
                <a:lnTo>
                  <a:pt x="240954" y="0"/>
                </a:lnTo>
                <a:lnTo>
                  <a:pt x="240954" y="240954"/>
                </a:lnTo>
                <a:lnTo>
                  <a:pt x="0" y="2409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7" name="Group 7"/>
          <p:cNvGrpSpPr/>
          <p:nvPr/>
        </p:nvGrpSpPr>
        <p:grpSpPr>
          <a:xfrm>
            <a:off x="992238" y="3117056"/>
            <a:ext cx="8031213" cy="28575"/>
            <a:chOff x="0" y="0"/>
            <a:chExt cx="10708284" cy="38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08259" cy="38100"/>
            </a:xfrm>
            <a:custGeom>
              <a:avLst/>
              <a:gdLst/>
              <a:ahLst/>
              <a:cxnLst/>
              <a:rect l="l" t="t" r="r" b="b"/>
              <a:pathLst>
                <a:path w="10708259" h="38100">
                  <a:moveTo>
                    <a:pt x="0" y="0"/>
                  </a:moveTo>
                  <a:lnTo>
                    <a:pt x="10708259" y="0"/>
                  </a:lnTo>
                  <a:lnTo>
                    <a:pt x="1070825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92238" y="3246987"/>
            <a:ext cx="4933207" cy="83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Fase 1: Planeamento e Estratégia </a:t>
            </a:r>
          </a:p>
          <a:p>
            <a:pPr algn="l">
              <a:lnSpc>
                <a:spcPts val="3062"/>
              </a:lnSpc>
            </a:pPr>
            <a:r>
              <a:rPr lang="en-US" sz="23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(Janeiro-Fevereiro)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174627"/>
            <a:ext cx="8031213" cy="1300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Definição de objetivos, público-alvo, análise de concorrência e seleção de canais de marketing digital. </a:t>
            </a:r>
          </a:p>
          <a:p>
            <a:pPr algn="l">
              <a:lnSpc>
                <a:spcPts val="2437"/>
              </a:lnSpc>
            </a:pPr>
            <a:r>
              <a:rPr lang="en-US" sz="1874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Deliverables:</a:t>
            </a: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Documento de estratégia finalizado, KPIs e orçamento aprovados.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264406" y="2760316"/>
            <a:ext cx="240954" cy="240954"/>
          </a:xfrm>
          <a:custGeom>
            <a:avLst/>
            <a:gdLst/>
            <a:ahLst/>
            <a:cxnLst/>
            <a:rect l="l" t="t" r="r" b="b"/>
            <a:pathLst>
              <a:path w="240954" h="240954">
                <a:moveTo>
                  <a:pt x="0" y="0"/>
                </a:moveTo>
                <a:lnTo>
                  <a:pt x="240953" y="0"/>
                </a:lnTo>
                <a:lnTo>
                  <a:pt x="240953" y="240954"/>
                </a:lnTo>
                <a:lnTo>
                  <a:pt x="0" y="2409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5767" b="-5771"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12" name="Group 12"/>
          <p:cNvGrpSpPr/>
          <p:nvPr/>
        </p:nvGrpSpPr>
        <p:grpSpPr>
          <a:xfrm>
            <a:off x="9264406" y="3117056"/>
            <a:ext cx="8031366" cy="28575"/>
            <a:chOff x="0" y="0"/>
            <a:chExt cx="10708488" cy="38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08513" cy="38100"/>
            </a:xfrm>
            <a:custGeom>
              <a:avLst/>
              <a:gdLst/>
              <a:ahLst/>
              <a:cxnLst/>
              <a:rect l="l" t="t" r="r" b="b"/>
              <a:pathLst>
                <a:path w="10708513" h="38100">
                  <a:moveTo>
                    <a:pt x="0" y="0"/>
                  </a:moveTo>
                  <a:lnTo>
                    <a:pt x="10708513" y="0"/>
                  </a:lnTo>
                  <a:lnTo>
                    <a:pt x="1070851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264406" y="3246987"/>
            <a:ext cx="7164734" cy="83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Fase 2: Desenvolvimento de Conteúdo e Criação </a:t>
            </a:r>
          </a:p>
          <a:p>
            <a:pPr algn="l">
              <a:lnSpc>
                <a:spcPts val="3062"/>
              </a:lnSpc>
            </a:pPr>
            <a:r>
              <a:rPr lang="en-US" sz="23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(Março)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64406" y="4174627"/>
            <a:ext cx="8031366" cy="1300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Criação de artigos para SEO, posts para redes sociais, e-mails marketing, scripts para ADS e materiais para influenciadores. </a:t>
            </a:r>
          </a:p>
          <a:p>
            <a:pPr algn="l">
              <a:lnSpc>
                <a:spcPts val="2437"/>
              </a:lnSpc>
            </a:pPr>
            <a:r>
              <a:rPr lang="en-US" sz="1874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Deliverables:</a:t>
            </a: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Banco de conteúdo e ativos visuais aprovados e prontos para publicação.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92238" y="5932589"/>
            <a:ext cx="240954" cy="240954"/>
          </a:xfrm>
          <a:custGeom>
            <a:avLst/>
            <a:gdLst/>
            <a:ahLst/>
            <a:cxnLst/>
            <a:rect l="l" t="t" r="r" b="b"/>
            <a:pathLst>
              <a:path w="240954" h="240954">
                <a:moveTo>
                  <a:pt x="0" y="0"/>
                </a:moveTo>
                <a:lnTo>
                  <a:pt x="240954" y="0"/>
                </a:lnTo>
                <a:lnTo>
                  <a:pt x="240954" y="240954"/>
                </a:lnTo>
                <a:lnTo>
                  <a:pt x="0" y="2409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28845" b="-28845"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17" name="Group 17"/>
          <p:cNvGrpSpPr/>
          <p:nvPr/>
        </p:nvGrpSpPr>
        <p:grpSpPr>
          <a:xfrm>
            <a:off x="992238" y="6289329"/>
            <a:ext cx="8031213" cy="28575"/>
            <a:chOff x="0" y="0"/>
            <a:chExt cx="10708284" cy="381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08259" cy="38100"/>
            </a:xfrm>
            <a:custGeom>
              <a:avLst/>
              <a:gdLst/>
              <a:ahLst/>
              <a:cxnLst/>
              <a:rect l="l" t="t" r="r" b="b"/>
              <a:pathLst>
                <a:path w="10708259" h="38100">
                  <a:moveTo>
                    <a:pt x="0" y="0"/>
                  </a:moveTo>
                  <a:lnTo>
                    <a:pt x="10708259" y="0"/>
                  </a:lnTo>
                  <a:lnTo>
                    <a:pt x="1070825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92238" y="6419259"/>
            <a:ext cx="7024840" cy="83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Fase 3: Lançamento e Execução de Campanhas </a:t>
            </a:r>
          </a:p>
          <a:p>
            <a:pPr algn="l">
              <a:lnSpc>
                <a:spcPts val="3062"/>
              </a:lnSpc>
            </a:pPr>
            <a:r>
              <a:rPr lang="en-US" sz="23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(Abril-Maio)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2238" y="7346899"/>
            <a:ext cx="8031213" cy="1300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Publicação de conteúdo, lançamento de campanhas de ADS, início do e-mail marketing e ativação de influenciadores. </a:t>
            </a:r>
          </a:p>
          <a:p>
            <a:pPr algn="l">
              <a:lnSpc>
                <a:spcPts val="2437"/>
              </a:lnSpc>
            </a:pPr>
            <a:r>
              <a:rPr lang="en-US" sz="1874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Métricas:</a:t>
            </a: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Tráfego inicial, compromisso social, abertura de e-mails, cliques em ADS.</a:t>
            </a:r>
          </a:p>
        </p:txBody>
      </p:sp>
      <p:sp>
        <p:nvSpPr>
          <p:cNvPr id="21" name="Freeform 21" descr="preencoded.png"/>
          <p:cNvSpPr/>
          <p:nvPr/>
        </p:nvSpPr>
        <p:spPr>
          <a:xfrm>
            <a:off x="9264406" y="5932589"/>
            <a:ext cx="240954" cy="240954"/>
          </a:xfrm>
          <a:custGeom>
            <a:avLst/>
            <a:gdLst/>
            <a:ahLst/>
            <a:cxnLst/>
            <a:rect l="l" t="t" r="r" b="b"/>
            <a:pathLst>
              <a:path w="240954" h="240954">
                <a:moveTo>
                  <a:pt x="0" y="0"/>
                </a:moveTo>
                <a:lnTo>
                  <a:pt x="240953" y="0"/>
                </a:lnTo>
                <a:lnTo>
                  <a:pt x="240953" y="240954"/>
                </a:lnTo>
                <a:lnTo>
                  <a:pt x="0" y="2409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grpSp>
        <p:nvGrpSpPr>
          <p:cNvPr id="22" name="Group 22"/>
          <p:cNvGrpSpPr/>
          <p:nvPr/>
        </p:nvGrpSpPr>
        <p:grpSpPr>
          <a:xfrm>
            <a:off x="9264406" y="6289329"/>
            <a:ext cx="8031366" cy="28575"/>
            <a:chOff x="0" y="0"/>
            <a:chExt cx="10708488" cy="38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08513" cy="38100"/>
            </a:xfrm>
            <a:custGeom>
              <a:avLst/>
              <a:gdLst/>
              <a:ahLst/>
              <a:cxnLst/>
              <a:rect l="l" t="t" r="r" b="b"/>
              <a:pathLst>
                <a:path w="10708513" h="38100">
                  <a:moveTo>
                    <a:pt x="0" y="0"/>
                  </a:moveTo>
                  <a:lnTo>
                    <a:pt x="10708513" y="0"/>
                  </a:lnTo>
                  <a:lnTo>
                    <a:pt x="1070851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6296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264406" y="6419259"/>
            <a:ext cx="5321941" cy="83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3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Fase 4: Monitorização e Otimização </a:t>
            </a:r>
          </a:p>
          <a:p>
            <a:pPr algn="l">
              <a:lnSpc>
                <a:spcPts val="3062"/>
              </a:lnSpc>
            </a:pPr>
            <a:r>
              <a:rPr lang="en-US" sz="2312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(Junho em diante)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64406" y="7346899"/>
            <a:ext cx="8031366" cy="1300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Acompanhamento de métricas, análise de desempenho das campanhas e realização de ajustes para maximizar resultados. </a:t>
            </a:r>
          </a:p>
          <a:p>
            <a:pPr algn="l">
              <a:lnSpc>
                <a:spcPts val="2437"/>
              </a:lnSpc>
            </a:pPr>
            <a:r>
              <a:rPr lang="en-US" sz="1874" b="1">
                <a:solidFill>
                  <a:srgbClr val="EBEDF0"/>
                </a:solidFill>
                <a:latin typeface="Arimo Bold"/>
                <a:ea typeface="Arimo Bold"/>
                <a:cs typeface="Arimo Bold"/>
                <a:sym typeface="Arimo Bold"/>
              </a:rPr>
              <a:t>Métricas:</a:t>
            </a:r>
            <a:r>
              <a:rPr lang="en-US" sz="1874">
                <a:solidFill>
                  <a:srgbClr val="EBEDF0"/>
                </a:solidFill>
                <a:latin typeface="Arimo"/>
                <a:ea typeface="Arimo"/>
                <a:cs typeface="Arimo"/>
                <a:sym typeface="Arimo"/>
              </a:rPr>
              <a:t> Conversões, ROI de campanhas, crescimento da base de clientes, relatórios de desempenho mensais.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1327</Words>
  <Application>Microsoft Office PowerPoint</Application>
  <PresentationFormat>Personalizados</PresentationFormat>
  <Paragraphs>216</Paragraphs>
  <Slides>17</Slides>
  <Notes>17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17</vt:i4>
      </vt:variant>
    </vt:vector>
  </HeadingPairs>
  <TitlesOfParts>
    <vt:vector size="22" baseType="lpstr">
      <vt:lpstr>Calibri</vt:lpstr>
      <vt:lpstr>Arial</vt:lpstr>
      <vt:lpstr>Arimo Bold</vt:lpstr>
      <vt:lpstr>Arimo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I-Brakebicycle_Apresentacao_Final.pptx</dc:title>
  <dc:creator>Admin</dc:creator>
  <cp:lastModifiedBy>Tiago Israel Monsanto Ferreira Pereira Lagos</cp:lastModifiedBy>
  <cp:revision>1</cp:revision>
  <dcterms:created xsi:type="dcterms:W3CDTF">2006-08-16T00:00:00Z</dcterms:created>
  <dcterms:modified xsi:type="dcterms:W3CDTF">2025-12-17T12:20:58Z</dcterms:modified>
  <dc:identifier>DAG7sq8sToQ</dc:identifier>
</cp:coreProperties>
</file>